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e5caa4d138438f" /><Relationship Type="http://schemas.openxmlformats.org/officeDocument/2006/relationships/extended-properties" Target="/docProps/app.xml" Id="Re3e242b94cee4e53" /><Relationship Type="http://schemas.openxmlformats.org/officeDocument/2006/relationships/officeDocument" Target="/ppt/presentation.xml" Id="R512e6a89d7114e20" /></Relationships>
</file>

<file path=ppt/presentation.xml><?xml version="1.0" encoding="utf-8"?>
<p:presentation xmlns:p="http://schemas.openxmlformats.org/presentationml/2006/main">
  <p:sldMasterIdLst>
    <p:sldMasterId xmlns:r="http://schemas.openxmlformats.org/officeDocument/2006/relationships" id="2147483648" r:id="Rec43b5bef0274513"/>
  </p:sldMasterIdLst>
  <p:notesMasterIdLst>
    <p:notesMasterId xmlns:r="http://schemas.openxmlformats.org/officeDocument/2006/relationships" r:id="R48c4f2988a014387"/>
  </p:notesMasterIdLst>
  <p:sldIdLst>
    <p:sldId xmlns:r="http://schemas.openxmlformats.org/officeDocument/2006/relationships" id="256" r:id="Rf67ce92d5e8d4226"/>
    <p:sldId xmlns:r="http://schemas.openxmlformats.org/officeDocument/2006/relationships" id="257" r:id="R24f7c3bd7074471b"/>
    <p:sldId xmlns:r="http://schemas.openxmlformats.org/officeDocument/2006/relationships" id="258" r:id="R112717ccd3a8436c"/>
    <p:sldId xmlns:r="http://schemas.openxmlformats.org/officeDocument/2006/relationships" id="259" r:id="Rcfeef9b169f24949"/>
    <p:sldId xmlns:r="http://schemas.openxmlformats.org/officeDocument/2006/relationships" id="260" r:id="R3e1a9c46fa474c02"/>
    <p:sldId xmlns:r="http://schemas.openxmlformats.org/officeDocument/2006/relationships" id="261" r:id="R68a41417737a4964"/>
    <p:sldId xmlns:r="http://schemas.openxmlformats.org/officeDocument/2006/relationships" id="262" r:id="R72efad0ff4ad4830"/>
    <p:sldId xmlns:r="http://schemas.openxmlformats.org/officeDocument/2006/relationships" id="263" r:id="Rab6596ae94f64888"/>
    <p:sldId xmlns:r="http://schemas.openxmlformats.org/officeDocument/2006/relationships" id="264" r:id="R613a12fb56674d42"/>
    <p:sldId xmlns:r="http://schemas.openxmlformats.org/officeDocument/2006/relationships" id="265" r:id="Rf2aa129822cc406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ec43b5bef0274513" /><Relationship Type="http://schemas.openxmlformats.org/officeDocument/2006/relationships/theme" Target="/ppt/theme/theme1.xml" Id="R90891f49adbd4dc1" /><Relationship Type="http://schemas.openxmlformats.org/officeDocument/2006/relationships/notesMaster" Target="/ppt/notesMasters/notesMaster1.xml" Id="R48c4f2988a014387" /><Relationship Type="http://schemas.openxmlformats.org/officeDocument/2006/relationships/presProps" Target="/ppt/presProps.xml" Id="Re49fcfbd1b4547e0" /><Relationship Type="http://schemas.openxmlformats.org/officeDocument/2006/relationships/viewProps" Target="/ppt/viewProps.xml" Id="R0932e50ac3e5421f" /><Relationship Type="http://schemas.openxmlformats.org/officeDocument/2006/relationships/tableStyles" Target="/ppt/tableStyles.xml" Id="Rb1272b34728a488f" /><Relationship Type="http://schemas.openxmlformats.org/officeDocument/2006/relationships/slide" Target="/ppt/slides/slide1.xml" Id="Rf67ce92d5e8d4226" /><Relationship Type="http://schemas.openxmlformats.org/officeDocument/2006/relationships/slide" Target="/ppt/slides/slide2.xml" Id="R24f7c3bd7074471b" /><Relationship Type="http://schemas.openxmlformats.org/officeDocument/2006/relationships/slide" Target="/ppt/slides/slide3.xml" Id="R112717ccd3a8436c" /><Relationship Type="http://schemas.openxmlformats.org/officeDocument/2006/relationships/slide" Target="/ppt/slides/slide4.xml" Id="Rcfeef9b169f24949" /><Relationship Type="http://schemas.openxmlformats.org/officeDocument/2006/relationships/slide" Target="/ppt/slides/slide5.xml" Id="R3e1a9c46fa474c02" /><Relationship Type="http://schemas.openxmlformats.org/officeDocument/2006/relationships/slide" Target="/ppt/slides/slide6.xml" Id="R68a41417737a4964" /><Relationship Type="http://schemas.openxmlformats.org/officeDocument/2006/relationships/slide" Target="/ppt/slides/slide7.xml" Id="R72efad0ff4ad4830" /><Relationship Type="http://schemas.openxmlformats.org/officeDocument/2006/relationships/slide" Target="/ppt/slides/slide8.xml" Id="Rab6596ae94f64888" /><Relationship Type="http://schemas.openxmlformats.org/officeDocument/2006/relationships/slide" Target="/ppt/slides/slide9.xml" Id="R613a12fb56674d42" /><Relationship Type="http://schemas.openxmlformats.org/officeDocument/2006/relationships/slide" Target="/ppt/slides/slide10.xml" Id="Rf2aa129822cc40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88899c183f242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a970a34b5f4206" /><Relationship Type="http://schemas.openxmlformats.org/officeDocument/2006/relationships/notesMaster" Target="/ppt/notesMasters/notesMaster1.xml" Id="Re818c0c5610f4e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1b6f41bcc24b7a" /><Relationship Type="http://schemas.openxmlformats.org/officeDocument/2006/relationships/notesMaster" Target="/ppt/notesMasters/notesMaster1.xml" Id="R1b531143629246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25d0417c8b4d2e" /><Relationship Type="http://schemas.openxmlformats.org/officeDocument/2006/relationships/notesMaster" Target="/ppt/notesMasters/notesMaster1.xml" Id="R56a661ef9ec745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1264dc50c34943" /><Relationship Type="http://schemas.openxmlformats.org/officeDocument/2006/relationships/notesMaster" Target="/ppt/notesMasters/notesMaster1.xml" Id="R80a32a4f48dc43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acc104f31143b9" /><Relationship Type="http://schemas.openxmlformats.org/officeDocument/2006/relationships/notesMaster" Target="/ppt/notesMasters/notesMaster1.xml" Id="R03d8dec2caa349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2086de05da4d6d" /><Relationship Type="http://schemas.openxmlformats.org/officeDocument/2006/relationships/notesMaster" Target="/ppt/notesMasters/notesMaster1.xml" Id="Rd4ba581012904f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87376e78724825" /><Relationship Type="http://schemas.openxmlformats.org/officeDocument/2006/relationships/notesMaster" Target="/ppt/notesMasters/notesMaster1.xml" Id="R92a0907130fc4b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045270aa5c4d6d" /><Relationship Type="http://schemas.openxmlformats.org/officeDocument/2006/relationships/notesMaster" Target="/ppt/notesMasters/notesMaster1.xml" Id="R203b6cf634d640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f38f0caab14aa2" /><Relationship Type="http://schemas.openxmlformats.org/officeDocument/2006/relationships/notesMaster" Target="/ppt/notesMasters/notesMaster1.xml" Id="R72cfe25f538f45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6bf3c505bd4f12" /><Relationship Type="http://schemas.openxmlformats.org/officeDocument/2006/relationships/notesMaster" Target="/ppt/notesMasters/notesMaster1.xml" Id="Rf0234044d99c4e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8f9c7b6a0b4e6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4c9d6573ef14122" /><Relationship Type="http://schemas.openxmlformats.org/officeDocument/2006/relationships/slideLayout" Target="/ppt/slideLayouts/slideLayout2.xml" Id="R561cac2ab33b45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1cac2ab33b45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b29394e7dc94b22" /><Relationship Type="http://schemas.openxmlformats.org/officeDocument/2006/relationships/notesSlide" Target="/ppt/notesSlides/notesSlide1.xml" Id="R37b301dd87b54c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5a0e3e434394384" /><Relationship Type="http://schemas.openxmlformats.org/officeDocument/2006/relationships/notesSlide" Target="/ppt/notesSlides/notesSlide2.xml" Id="R7f0b309be63d43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43a60fc12024aee" /><Relationship Type="http://schemas.openxmlformats.org/officeDocument/2006/relationships/notesSlide" Target="/ppt/notesSlides/notesSlide3.xml" Id="Rc0c1085a871040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6938c947c3c412f" /><Relationship Type="http://schemas.openxmlformats.org/officeDocument/2006/relationships/notesSlide" Target="/ppt/notesSlides/notesSlide4.xml" Id="R0e791a1595f348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a9199f4326547b1" /><Relationship Type="http://schemas.openxmlformats.org/officeDocument/2006/relationships/notesSlide" Target="/ppt/notesSlides/notesSlide5.xml" Id="R2b12a46b93f84f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ae47482b8984b4f" /><Relationship Type="http://schemas.openxmlformats.org/officeDocument/2006/relationships/notesSlide" Target="/ppt/notesSlides/notesSlide6.xml" Id="R220c01333b8943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40d4e7112b844d6" /><Relationship Type="http://schemas.openxmlformats.org/officeDocument/2006/relationships/notesSlide" Target="/ppt/notesSlides/notesSlide7.xml" Id="Rc9c7684e88b548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830279248c14b3f" /><Relationship Type="http://schemas.openxmlformats.org/officeDocument/2006/relationships/notesSlide" Target="/ppt/notesSlides/notesSlide8.xml" Id="R421604f4c8b240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3fe0f9594ee43ad" /><Relationship Type="http://schemas.openxmlformats.org/officeDocument/2006/relationships/notesSlide" Target="/ppt/notesSlides/notesSlide9.xml" Id="R858f4a1558a145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460dd5e1c304714" /><Relationship Type="http://schemas.openxmlformats.org/officeDocument/2006/relationships/notesSlide" Target="/ppt/notesSlides/notesSlide10.xml" Id="Rdc3f4e671e31459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01C9D8D-9816-44BC-B796-F5E809428C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78568DB-460B-45EA-8944-6E722EE5D1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7E21FFA-9050-4EBF-BDDE-DFA658EBA7DF}"/>
              </a:ext>
            </a:extLst>
          </p:cNvPr>
          <p:cNvSpPr>
            <a:spLocks xmlns:a="http://schemas.openxmlformats.org/drawingml/2006/main" noGrp="1"/>
          </p:cNvSpPr>
          <p:nvPr/>
        </p:nvSpPr>
        <p:spPr>
          <a:xfrm xmlns:a="http://schemas.openxmlformats.org/drawingml/2006/main">
            <a:off x="7658100" y="0"/>
            <a:ext cx="4533900" cy="6858000"/>
          </a:xfrm>
          <a:prstGeom xmlns:a="http://schemas.openxmlformats.org/drawingml/2006/main" prst="rect">
            <a:avLst/>
          </a:prstGeom>
          <a:solidFill xmlns:a="http://schemas.openxmlformats.org/drawingml/2006/main">
            <a:srgbClr val="202824"/>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D2415C9-585D-4FED-A173-9EF15D22BC84}"/>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8D9C10B-68F2-47B4-8BB2-3CD9CA8485DB}"/>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MEETING FRAME</a:t>
            </a:r>
          </a:p>
        </p:txBody>
      </p:sp>
      <p:sp>
        <p:nvSpPr>
          <p:cNvPr id="6" name="">
            <a:extLst xmlns:a="http://schemas.openxmlformats.org/drawingml/2006/main">
              <a:ext uri="{FF2B5EF4-FFF2-40B4-BE49-F238E27FC236}">
                <a16:creationId xmlns:a16="http://schemas.microsoft.com/office/drawing/2014/main" id="{E684E50C-88BE-4D47-864F-1A62B85BB664}"/>
              </a:ext>
            </a:extLst>
          </p:cNvPr>
          <p:cNvSpPr>
            <a:spLocks xmlns:a="http://schemas.openxmlformats.org/drawingml/2006/main" noGrp="1"/>
          </p:cNvSpPr>
          <p:nvPr/>
        </p:nvSpPr>
        <p:spPr>
          <a:xfrm xmlns:a="http://schemas.openxmlformats.org/drawingml/2006/main">
            <a:off x="552450" y="1352550"/>
            <a:ext cx="63817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17211C"/>
                </a:solidFill>
                <a:latin typeface="Aptos Display"/>
                <a:ea typeface="Aptos Display"/>
                <a:cs typeface="Aptos Display"/>
              </a:defRPr>
            </a:pPr>
            <a:r>
              <a:rPr sz="3300" b="1">
                <a:solidFill>
                  <a:srgbClr val="17211C"/>
                </a:solidFill>
                <a:latin typeface="Aptos Display"/>
                <a:ea typeface="Aptos Display"/>
                <a:cs typeface="Aptos Display"/>
              </a:rPr>
              <a:t>Nordic market entry should become a paid strategic pilot, not an informal favor.</a:t>
            </a:r>
          </a:p>
        </p:txBody>
      </p:sp>
      <p:sp>
        <p:nvSpPr>
          <p:cNvPr id="7" name="">
            <a:extLst xmlns:a="http://schemas.openxmlformats.org/drawingml/2006/main">
              <a:ext uri="{FF2B5EF4-FFF2-40B4-BE49-F238E27FC236}">
                <a16:creationId xmlns:a16="http://schemas.microsoft.com/office/drawing/2014/main" id="{3DF9AC6D-71E7-4DFB-BA0A-8024B5A809F7}"/>
              </a:ext>
            </a:extLst>
          </p:cNvPr>
          <p:cNvSpPr>
            <a:spLocks xmlns:a="http://schemas.openxmlformats.org/drawingml/2006/main" noGrp="1"/>
          </p:cNvSpPr>
          <p:nvPr/>
        </p:nvSpPr>
        <p:spPr>
          <a:xfrm xmlns:a="http://schemas.openxmlformats.org/drawingml/2006/main">
            <a:off x="590550" y="3352800"/>
            <a:ext cx="5715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57066"/>
                </a:solidFill>
                <a:latin typeface="Aptos"/>
                <a:ea typeface="Aptos"/>
                <a:cs typeface="Aptos"/>
              </a:defRPr>
            </a:pPr>
            <a:r>
              <a:rPr sz="975" b="0">
                <a:solidFill>
                  <a:srgbClr val="657066"/>
                </a:solidFill>
                <a:latin typeface="Aptos"/>
                <a:ea typeface="Aptos"/>
                <a:cs typeface="Aptos"/>
              </a:rPr>
              <a:t>A working deck for the two-hour discussion with Andre Conin and Claudia Kruger. It keeps the door open while making NORC's value and commercial boundary explicit.</a:t>
            </a:r>
          </a:p>
        </p:txBody>
      </p:sp>
      <p:sp>
        <p:nvSpPr>
          <p:cNvPr id="8" name="">
            <a:extLst xmlns:a="http://schemas.openxmlformats.org/drawingml/2006/main">
              <a:ext uri="{FF2B5EF4-FFF2-40B4-BE49-F238E27FC236}">
                <a16:creationId xmlns:a16="http://schemas.microsoft.com/office/drawing/2014/main" id="{6C7CC595-50C5-4748-A870-EA93E2BF1CA8}"/>
              </a:ext>
            </a:extLst>
          </p:cNvPr>
          <p:cNvSpPr>
            <a:spLocks xmlns:a="http://schemas.openxmlformats.org/drawingml/2006/main" noGrp="1"/>
          </p:cNvSpPr>
          <p:nvPr/>
        </p:nvSpPr>
        <p:spPr>
          <a:xfrm xmlns:a="http://schemas.openxmlformats.org/drawingml/2006/main">
            <a:off x="590550" y="4343400"/>
            <a:ext cx="5715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AD04407-C217-4E9C-AC8F-1FC5E2769A1C}"/>
              </a:ext>
            </a:extLst>
          </p:cNvPr>
          <p:cNvSpPr>
            <a:spLocks xmlns:a="http://schemas.openxmlformats.org/drawingml/2006/main" noGrp="1"/>
          </p:cNvSpPr>
          <p:nvPr/>
        </p:nvSpPr>
        <p:spPr>
          <a:xfrm xmlns:a="http://schemas.openxmlformats.org/drawingml/2006/main">
            <a:off x="590550" y="4857750"/>
            <a:ext cx="9525" cy="533400"/>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976E593-75F1-4221-A70D-989000E966C2}"/>
              </a:ext>
            </a:extLst>
          </p:cNvPr>
          <p:cNvSpPr>
            <a:spLocks xmlns:a="http://schemas.openxmlformats.org/drawingml/2006/main" noGrp="1"/>
          </p:cNvSpPr>
          <p:nvPr/>
        </p:nvSpPr>
        <p:spPr>
          <a:xfrm xmlns:a="http://schemas.openxmlformats.org/drawingml/2006/main">
            <a:off x="723900" y="48387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84A3B"/>
                </a:solidFill>
                <a:latin typeface="Aptos Display"/>
                <a:ea typeface="Aptos Display"/>
                <a:cs typeface="Aptos Display"/>
              </a:defRPr>
            </a:pPr>
            <a:r>
              <a:rPr sz="1875" b="1">
                <a:solidFill>
                  <a:srgbClr val="184A3B"/>
                </a:solidFill>
                <a:latin typeface="Aptos Display"/>
                <a:ea typeface="Aptos Display"/>
                <a:cs typeface="Aptos Display"/>
              </a:rPr>
              <a:t>01</a:t>
            </a:r>
          </a:p>
        </p:txBody>
      </p:sp>
      <p:sp>
        <p:nvSpPr>
          <p:cNvPr id="11" name="">
            <a:extLst xmlns:a="http://schemas.openxmlformats.org/drawingml/2006/main">
              <a:ext uri="{FF2B5EF4-FFF2-40B4-BE49-F238E27FC236}">
                <a16:creationId xmlns:a16="http://schemas.microsoft.com/office/drawing/2014/main" id="{91B7509B-B569-48A9-8197-94E27D099C2F}"/>
              </a:ext>
            </a:extLst>
          </p:cNvPr>
          <p:cNvSpPr>
            <a:spLocks xmlns:a="http://schemas.openxmlformats.org/drawingml/2006/main" noGrp="1"/>
          </p:cNvSpPr>
          <p:nvPr/>
        </p:nvSpPr>
        <p:spPr>
          <a:xfrm xmlns:a="http://schemas.openxmlformats.org/drawingml/2006/main">
            <a:off x="723900" y="5181600"/>
            <a:ext cx="1676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Confirm Team Neusta's Nordic ambition</a:t>
            </a:r>
          </a:p>
        </p:txBody>
      </p:sp>
      <p:sp>
        <p:nvSpPr>
          <p:cNvPr id="12" name="">
            <a:extLst xmlns:a="http://schemas.openxmlformats.org/drawingml/2006/main">
              <a:ext uri="{FF2B5EF4-FFF2-40B4-BE49-F238E27FC236}">
                <a16:creationId xmlns:a16="http://schemas.microsoft.com/office/drawing/2014/main" id="{48E1DEEF-4527-4A5B-BE1A-7891D95FD2D1}"/>
              </a:ext>
            </a:extLst>
          </p:cNvPr>
          <p:cNvSpPr>
            <a:spLocks xmlns:a="http://schemas.openxmlformats.org/drawingml/2006/main" noGrp="1"/>
          </p:cNvSpPr>
          <p:nvPr/>
        </p:nvSpPr>
        <p:spPr>
          <a:xfrm xmlns:a="http://schemas.openxmlformats.org/drawingml/2006/main">
            <a:off x="2781300" y="4857750"/>
            <a:ext cx="9525" cy="53340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9BFFAF7-AD80-47F1-A312-AB7AAFA72D90}"/>
              </a:ext>
            </a:extLst>
          </p:cNvPr>
          <p:cNvSpPr>
            <a:spLocks xmlns:a="http://schemas.openxmlformats.org/drawingml/2006/main" noGrp="1"/>
          </p:cNvSpPr>
          <p:nvPr/>
        </p:nvSpPr>
        <p:spPr>
          <a:xfrm xmlns:a="http://schemas.openxmlformats.org/drawingml/2006/main">
            <a:off x="2914650" y="48387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B56A3A"/>
                </a:solidFill>
                <a:latin typeface="Aptos Display"/>
                <a:ea typeface="Aptos Display"/>
                <a:cs typeface="Aptos Display"/>
              </a:defRPr>
            </a:pPr>
            <a:r>
              <a:rPr sz="1875" b="1">
                <a:solidFill>
                  <a:srgbClr val="B56A3A"/>
                </a:solidFill>
                <a:latin typeface="Aptos Display"/>
                <a:ea typeface="Aptos Display"/>
                <a:cs typeface="Aptos Display"/>
              </a:rPr>
              <a:t>02</a:t>
            </a:r>
          </a:p>
        </p:txBody>
      </p:sp>
      <p:sp>
        <p:nvSpPr>
          <p:cNvPr id="14" name="">
            <a:extLst xmlns:a="http://schemas.openxmlformats.org/drawingml/2006/main">
              <a:ext uri="{FF2B5EF4-FFF2-40B4-BE49-F238E27FC236}">
                <a16:creationId xmlns:a16="http://schemas.microsoft.com/office/drawing/2014/main" id="{4E3D507E-8512-4B48-A8FC-FA19B4E3B0AD}"/>
              </a:ext>
            </a:extLst>
          </p:cNvPr>
          <p:cNvSpPr>
            <a:spLocks xmlns:a="http://schemas.openxmlformats.org/drawingml/2006/main" noGrp="1"/>
          </p:cNvSpPr>
          <p:nvPr/>
        </p:nvSpPr>
        <p:spPr>
          <a:xfrm xmlns:a="http://schemas.openxmlformats.org/drawingml/2006/main">
            <a:off x="2914650" y="5181600"/>
            <a:ext cx="1676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Select 2-3 first offer tracks</a:t>
            </a:r>
          </a:p>
        </p:txBody>
      </p:sp>
      <p:sp>
        <p:nvSpPr>
          <p:cNvPr id="15" name="">
            <a:extLst xmlns:a="http://schemas.openxmlformats.org/drawingml/2006/main">
              <a:ext uri="{FF2B5EF4-FFF2-40B4-BE49-F238E27FC236}">
                <a16:creationId xmlns:a16="http://schemas.microsoft.com/office/drawing/2014/main" id="{B1893109-D2D3-4949-B827-5386E6B905F9}"/>
              </a:ext>
            </a:extLst>
          </p:cNvPr>
          <p:cNvSpPr>
            <a:spLocks xmlns:a="http://schemas.openxmlformats.org/drawingml/2006/main" noGrp="1"/>
          </p:cNvSpPr>
          <p:nvPr/>
        </p:nvSpPr>
        <p:spPr>
          <a:xfrm xmlns:a="http://schemas.openxmlformats.org/drawingml/2006/main">
            <a:off x="4972050" y="4857750"/>
            <a:ext cx="9525" cy="533400"/>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3153427-CB7B-48D8-9A5F-A18DBA9A5C0C}"/>
              </a:ext>
            </a:extLst>
          </p:cNvPr>
          <p:cNvSpPr>
            <a:spLocks xmlns:a="http://schemas.openxmlformats.org/drawingml/2006/main" noGrp="1"/>
          </p:cNvSpPr>
          <p:nvPr/>
        </p:nvSpPr>
        <p:spPr>
          <a:xfrm xmlns:a="http://schemas.openxmlformats.org/drawingml/2006/main">
            <a:off x="5105400" y="4838700"/>
            <a:ext cx="16764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84A3B"/>
                </a:solidFill>
                <a:latin typeface="Aptos Display"/>
                <a:ea typeface="Aptos Display"/>
                <a:cs typeface="Aptos Display"/>
              </a:defRPr>
            </a:pPr>
            <a:r>
              <a:rPr sz="1875" b="1">
                <a:solidFill>
                  <a:srgbClr val="184A3B"/>
                </a:solidFill>
                <a:latin typeface="Aptos Display"/>
                <a:ea typeface="Aptos Display"/>
                <a:cs typeface="Aptos Display"/>
              </a:rPr>
              <a:t>03</a:t>
            </a:r>
          </a:p>
        </p:txBody>
      </p:sp>
      <p:sp>
        <p:nvSpPr>
          <p:cNvPr id="17" name="">
            <a:extLst xmlns:a="http://schemas.openxmlformats.org/drawingml/2006/main">
              <a:ext uri="{FF2B5EF4-FFF2-40B4-BE49-F238E27FC236}">
                <a16:creationId xmlns:a16="http://schemas.microsoft.com/office/drawing/2014/main" id="{D9D4A40F-346F-4B0B-AEC7-5440C9E3C3E6}"/>
              </a:ext>
            </a:extLst>
          </p:cNvPr>
          <p:cNvSpPr>
            <a:spLocks xmlns:a="http://schemas.openxmlformats.org/drawingml/2006/main" noGrp="1"/>
          </p:cNvSpPr>
          <p:nvPr/>
        </p:nvSpPr>
        <p:spPr>
          <a:xfrm xmlns:a="http://schemas.openxmlformats.org/drawingml/2006/main">
            <a:off x="5105400" y="5181600"/>
            <a:ext cx="16764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Agree a 90-day paid pilot</a:t>
            </a:r>
          </a:p>
        </p:txBody>
      </p:sp>
      <p:sp>
        <p:nvSpPr>
          <p:cNvPr id="18" name="">
            <a:extLst xmlns:a="http://schemas.openxmlformats.org/drawingml/2006/main">
              <a:ext uri="{FF2B5EF4-FFF2-40B4-BE49-F238E27FC236}">
                <a16:creationId xmlns:a16="http://schemas.microsoft.com/office/drawing/2014/main" id="{324DCBF2-52AE-415D-80F4-4525D72B19F7}"/>
              </a:ext>
            </a:extLst>
          </p:cNvPr>
          <p:cNvSpPr>
            <a:spLocks xmlns:a="http://schemas.openxmlformats.org/drawingml/2006/main" noGrp="1"/>
          </p:cNvSpPr>
          <p:nvPr/>
        </p:nvSpPr>
        <p:spPr>
          <a:xfrm xmlns:a="http://schemas.openxmlformats.org/drawingml/2006/main">
            <a:off x="8172450" y="165735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D6D8"/>
                </a:solidFill>
                <a:latin typeface="Aptos Mono"/>
                <a:ea typeface="Aptos Mono"/>
                <a:cs typeface="Aptos Mono"/>
              </a:defRPr>
            </a:pPr>
            <a:r>
              <a:rPr sz="900" b="1">
                <a:solidFill>
                  <a:srgbClr val="C8D6D8"/>
                </a:solidFill>
                <a:latin typeface="Aptos Mono"/>
                <a:ea typeface="Aptos Mono"/>
                <a:cs typeface="Aptos Mono"/>
              </a:rPr>
              <a:t>TEAM NEUSTA</a:t>
            </a:r>
          </a:p>
        </p:txBody>
      </p:sp>
      <p:sp>
        <p:nvSpPr>
          <p:cNvPr id="19" name="">
            <a:extLst xmlns:a="http://schemas.openxmlformats.org/drawingml/2006/main">
              <a:ext uri="{FF2B5EF4-FFF2-40B4-BE49-F238E27FC236}">
                <a16:creationId xmlns:a16="http://schemas.microsoft.com/office/drawing/2014/main" id="{9C501556-68F8-4645-9CCA-91FD60E713AD}"/>
              </a:ext>
            </a:extLst>
          </p:cNvPr>
          <p:cNvSpPr>
            <a:spLocks xmlns:a="http://schemas.openxmlformats.org/drawingml/2006/main" noGrp="1"/>
          </p:cNvSpPr>
          <p:nvPr/>
        </p:nvSpPr>
        <p:spPr>
          <a:xfrm xmlns:a="http://schemas.openxmlformats.org/drawingml/2006/main">
            <a:off x="8172450" y="2038350"/>
            <a:ext cx="29337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Digital scale</a:t>
            </a:r>
          </a:p>
          <a:p xmlns:a="http://schemas.openxmlformats.org/drawingml/2006/main">
            <a:pPr algn="l">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engineering depth</a:t>
            </a:r>
          </a:p>
          <a:p xmlns:a="http://schemas.openxmlformats.org/drawingml/2006/main">
            <a:pPr algn="l">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German transformation track record</a:t>
            </a:r>
          </a:p>
        </p:txBody>
      </p:sp>
      <p:sp>
        <p:nvSpPr>
          <p:cNvPr id="20" name="">
            <a:extLst xmlns:a="http://schemas.openxmlformats.org/drawingml/2006/main">
              <a:ext uri="{FF2B5EF4-FFF2-40B4-BE49-F238E27FC236}">
                <a16:creationId xmlns:a16="http://schemas.microsoft.com/office/drawing/2014/main" id="{89A07575-FC96-4844-999B-6A546944C1E3}"/>
              </a:ext>
            </a:extLst>
          </p:cNvPr>
          <p:cNvSpPr>
            <a:spLocks xmlns:a="http://schemas.openxmlformats.org/drawingml/2006/main" noGrp="1"/>
          </p:cNvSpPr>
          <p:nvPr/>
        </p:nvSpPr>
        <p:spPr>
          <a:xfrm xmlns:a="http://schemas.openxmlformats.org/drawingml/2006/main">
            <a:off x="8172450" y="3371850"/>
            <a:ext cx="2476500" cy="19050"/>
          </a:xfrm>
          <a:prstGeom xmlns:a="http://schemas.openxmlformats.org/drawingml/2006/main" prst="rect">
            <a:avLst/>
          </a:prstGeom>
          <a:solidFill xmlns:a="http://schemas.openxmlformats.org/drawingml/2006/main">
            <a:srgbClr val="8CB9C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347208E-822C-4C57-B7A5-C0F2C96F56DC}"/>
              </a:ext>
            </a:extLst>
          </p:cNvPr>
          <p:cNvSpPr>
            <a:spLocks xmlns:a="http://schemas.openxmlformats.org/drawingml/2006/main" noGrp="1"/>
          </p:cNvSpPr>
          <p:nvPr/>
        </p:nvSpPr>
        <p:spPr>
          <a:xfrm xmlns:a="http://schemas.openxmlformats.org/drawingml/2006/main">
            <a:off x="8172450" y="382905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C8D6D8"/>
                </a:solidFill>
                <a:latin typeface="Aptos Mono"/>
                <a:ea typeface="Aptos Mono"/>
                <a:cs typeface="Aptos Mono"/>
              </a:defRPr>
            </a:pPr>
            <a:r>
              <a:rPr sz="900" b="1">
                <a:solidFill>
                  <a:srgbClr val="C8D6D8"/>
                </a:solidFill>
                <a:latin typeface="Aptos Mono"/>
                <a:ea typeface="Aptos Mono"/>
                <a:cs typeface="Aptos Mono"/>
              </a:rPr>
              <a:t>NORC</a:t>
            </a:r>
          </a:p>
        </p:txBody>
      </p:sp>
      <p:sp>
        <p:nvSpPr>
          <p:cNvPr id="22" name="">
            <a:extLst xmlns:a="http://schemas.openxmlformats.org/drawingml/2006/main">
              <a:ext uri="{FF2B5EF4-FFF2-40B4-BE49-F238E27FC236}">
                <a16:creationId xmlns:a16="http://schemas.microsoft.com/office/drawing/2014/main" id="{29A2E553-F0EB-4F7F-B463-50D14F2604AF}"/>
              </a:ext>
            </a:extLst>
          </p:cNvPr>
          <p:cNvSpPr>
            <a:spLocks xmlns:a="http://schemas.openxmlformats.org/drawingml/2006/main" noGrp="1"/>
          </p:cNvSpPr>
          <p:nvPr/>
        </p:nvSpPr>
        <p:spPr>
          <a:xfrm xmlns:a="http://schemas.openxmlformats.org/drawingml/2006/main">
            <a:off x="8172450" y="4210050"/>
            <a:ext cx="302895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Nordic relevance</a:t>
            </a:r>
          </a:p>
          <a:p xmlns:a="http://schemas.openxmlformats.org/drawingml/2006/main">
            <a:pPr algn="l">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trust-building</a:t>
            </a:r>
          </a:p>
          <a:p xmlns:a="http://schemas.openxmlformats.org/drawingml/2006/main">
            <a:pPr algn="l">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positioning and access to the right conversations</a:t>
            </a:r>
          </a:p>
        </p:txBody>
      </p:sp>
      <p:sp>
        <p:nvSpPr>
          <p:cNvPr id="23" name="">
            <a:extLst xmlns:a="http://schemas.openxmlformats.org/drawingml/2006/main">
              <a:ext uri="{FF2B5EF4-FFF2-40B4-BE49-F238E27FC236}">
                <a16:creationId xmlns:a16="http://schemas.microsoft.com/office/drawing/2014/main" id="{7D52B967-CA52-4300-9661-300699BEA441}"/>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EED3ABC3-BFF1-4FCB-8118-8774C6969DFC}"/>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25" name="">
            <a:extLst xmlns:a="http://schemas.openxmlformats.org/drawingml/2006/main">
              <a:ext uri="{FF2B5EF4-FFF2-40B4-BE49-F238E27FC236}">
                <a16:creationId xmlns:a16="http://schemas.microsoft.com/office/drawing/2014/main" id="{EF560A32-5ADA-4FFA-8EEE-308F71CAD4BF}"/>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01</a:t>
            </a:r>
          </a:p>
        </p:txBody>
      </p:sp>
    </p:spTree>
    <p:extLst>
      <p:ext uri="{BB962C8B-B14F-4D97-AF65-F5344CB8AC3E}">
        <p14:creationId xmlns:p14="http://schemas.microsoft.com/office/powerpoint/2010/main" val="1513089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C160E4-E341-46B9-9DD4-8EC51642D9E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2004B6A-F5EB-4A27-96D0-799DA7442F42}"/>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A2C9C98-861F-4457-8398-177DC38F1B45}"/>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STARTING POINT</a:t>
            </a:r>
          </a:p>
        </p:txBody>
      </p:sp>
      <p:sp>
        <p:nvSpPr>
          <p:cNvPr id="4" name="">
            <a:extLst xmlns:a="http://schemas.openxmlformats.org/drawingml/2006/main">
              <a:ext uri="{FF2B5EF4-FFF2-40B4-BE49-F238E27FC236}">
                <a16:creationId xmlns:a16="http://schemas.microsoft.com/office/drawing/2014/main" id="{DA895E65-6266-4859-B703-0EA423D61535}"/>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Team Neusta has enough capability; the challenge is making that capability legible in the Nordics.</a:t>
            </a:r>
          </a:p>
        </p:txBody>
      </p:sp>
      <p:sp>
        <p:nvSpPr>
          <p:cNvPr id="5" name="">
            <a:extLst xmlns:a="http://schemas.openxmlformats.org/drawingml/2006/main">
              <a:ext uri="{FF2B5EF4-FFF2-40B4-BE49-F238E27FC236}">
                <a16:creationId xmlns:a16="http://schemas.microsoft.com/office/drawing/2014/main" id="{919AC819-622F-4D6E-B489-4F53B859E468}"/>
              </a:ext>
            </a:extLst>
          </p:cNvPr>
          <p:cNvSpPr>
            <a:spLocks xmlns:a="http://schemas.openxmlformats.org/drawingml/2006/main" noGrp="1"/>
          </p:cNvSpPr>
          <p:nvPr/>
        </p:nvSpPr>
        <p:spPr>
          <a:xfrm xmlns:a="http://schemas.openxmlformats.org/drawingml/2006/main">
            <a:off x="685800" y="2238375"/>
            <a:ext cx="9525" cy="533400"/>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40D778B-3049-4628-8FB7-C89CA07E450E}"/>
              </a:ext>
            </a:extLst>
          </p:cNvPr>
          <p:cNvSpPr>
            <a:spLocks xmlns:a="http://schemas.openxmlformats.org/drawingml/2006/main" noGrp="1"/>
          </p:cNvSpPr>
          <p:nvPr/>
        </p:nvSpPr>
        <p:spPr>
          <a:xfrm xmlns:a="http://schemas.openxmlformats.org/drawingml/2006/main">
            <a:off x="819150" y="2219325"/>
            <a:ext cx="2247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84A3B"/>
                </a:solidFill>
                <a:latin typeface="Aptos Display"/>
                <a:ea typeface="Aptos Display"/>
                <a:cs typeface="Aptos Display"/>
              </a:defRPr>
            </a:pPr>
            <a:r>
              <a:rPr sz="1875" b="1">
                <a:solidFill>
                  <a:srgbClr val="184A3B"/>
                </a:solidFill>
                <a:latin typeface="Aptos Display"/>
                <a:ea typeface="Aptos Display"/>
                <a:cs typeface="Aptos Display"/>
              </a:rPr>
              <a:t>#7</a:t>
            </a:r>
          </a:p>
        </p:txBody>
      </p:sp>
      <p:sp>
        <p:nvSpPr>
          <p:cNvPr id="7" name="">
            <a:extLst xmlns:a="http://schemas.openxmlformats.org/drawingml/2006/main">
              <a:ext uri="{FF2B5EF4-FFF2-40B4-BE49-F238E27FC236}">
                <a16:creationId xmlns:a16="http://schemas.microsoft.com/office/drawing/2014/main" id="{171ED9D4-E9C3-4655-97E2-06A03F703FD6}"/>
              </a:ext>
            </a:extLst>
          </p:cNvPr>
          <p:cNvSpPr>
            <a:spLocks xmlns:a="http://schemas.openxmlformats.org/drawingml/2006/main" noGrp="1"/>
          </p:cNvSpPr>
          <p:nvPr/>
        </p:nvSpPr>
        <p:spPr>
          <a:xfrm xmlns:a="http://schemas.openxmlformats.org/drawingml/2006/main">
            <a:off x="819150" y="2562225"/>
            <a:ext cx="224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Internet Agency Ranking 2025 in Germany</a:t>
            </a:r>
          </a:p>
        </p:txBody>
      </p:sp>
      <p:sp>
        <p:nvSpPr>
          <p:cNvPr id="8" name="">
            <a:extLst xmlns:a="http://schemas.openxmlformats.org/drawingml/2006/main">
              <a:ext uri="{FF2B5EF4-FFF2-40B4-BE49-F238E27FC236}">
                <a16:creationId xmlns:a16="http://schemas.microsoft.com/office/drawing/2014/main" id="{0729F056-40B6-44E8-8B0E-287058277AA3}"/>
              </a:ext>
            </a:extLst>
          </p:cNvPr>
          <p:cNvSpPr>
            <a:spLocks xmlns:a="http://schemas.openxmlformats.org/drawingml/2006/main" noGrp="1"/>
          </p:cNvSpPr>
          <p:nvPr/>
        </p:nvSpPr>
        <p:spPr>
          <a:xfrm xmlns:a="http://schemas.openxmlformats.org/drawingml/2006/main">
            <a:off x="3429000" y="2238375"/>
            <a:ext cx="9525" cy="53340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89BC842C-19B1-4934-901B-6B310F38C1C0}"/>
              </a:ext>
            </a:extLst>
          </p:cNvPr>
          <p:cNvSpPr>
            <a:spLocks xmlns:a="http://schemas.openxmlformats.org/drawingml/2006/main" noGrp="1"/>
          </p:cNvSpPr>
          <p:nvPr/>
        </p:nvSpPr>
        <p:spPr>
          <a:xfrm xmlns:a="http://schemas.openxmlformats.org/drawingml/2006/main">
            <a:off x="3562350" y="2219325"/>
            <a:ext cx="2247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B56A3A"/>
                </a:solidFill>
                <a:latin typeface="Aptos Display"/>
                <a:ea typeface="Aptos Display"/>
                <a:cs typeface="Aptos Display"/>
              </a:defRPr>
            </a:pPr>
            <a:r>
              <a:rPr sz="1875" b="1">
                <a:solidFill>
                  <a:srgbClr val="B56A3A"/>
                </a:solidFill>
                <a:latin typeface="Aptos Display"/>
                <a:ea typeface="Aptos Display"/>
                <a:cs typeface="Aptos Display"/>
              </a:rPr>
              <a:t>EUR92m</a:t>
            </a:r>
          </a:p>
        </p:txBody>
      </p:sp>
      <p:sp>
        <p:nvSpPr>
          <p:cNvPr id="10" name="">
            <a:extLst xmlns:a="http://schemas.openxmlformats.org/drawingml/2006/main">
              <a:ext uri="{FF2B5EF4-FFF2-40B4-BE49-F238E27FC236}">
                <a16:creationId xmlns:a16="http://schemas.microsoft.com/office/drawing/2014/main" id="{4E720EE9-C11E-4906-BCAF-03C700D1D06C}"/>
              </a:ext>
            </a:extLst>
          </p:cNvPr>
          <p:cNvSpPr>
            <a:spLocks xmlns:a="http://schemas.openxmlformats.org/drawingml/2006/main" noGrp="1"/>
          </p:cNvSpPr>
          <p:nvPr/>
        </p:nvSpPr>
        <p:spPr>
          <a:xfrm xmlns:a="http://schemas.openxmlformats.org/drawingml/2006/main">
            <a:off x="3562350" y="2562225"/>
            <a:ext cx="224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reported fee revenue in the ranking</a:t>
            </a:r>
          </a:p>
        </p:txBody>
      </p:sp>
      <p:sp>
        <p:nvSpPr>
          <p:cNvPr id="11" name="">
            <a:extLst xmlns:a="http://schemas.openxmlformats.org/drawingml/2006/main">
              <a:ext uri="{FF2B5EF4-FFF2-40B4-BE49-F238E27FC236}">
                <a16:creationId xmlns:a16="http://schemas.microsoft.com/office/drawing/2014/main" id="{26A2573B-7960-4399-A2F9-38A51E7E32B1}"/>
              </a:ext>
            </a:extLst>
          </p:cNvPr>
          <p:cNvSpPr>
            <a:spLocks xmlns:a="http://schemas.openxmlformats.org/drawingml/2006/main" noGrp="1"/>
          </p:cNvSpPr>
          <p:nvPr/>
        </p:nvSpPr>
        <p:spPr>
          <a:xfrm xmlns:a="http://schemas.openxmlformats.org/drawingml/2006/main">
            <a:off x="6172200" y="2238375"/>
            <a:ext cx="9525" cy="533400"/>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81B1341-312E-4799-B406-2860C7C89B14}"/>
              </a:ext>
            </a:extLst>
          </p:cNvPr>
          <p:cNvSpPr>
            <a:spLocks xmlns:a="http://schemas.openxmlformats.org/drawingml/2006/main" noGrp="1"/>
          </p:cNvSpPr>
          <p:nvPr/>
        </p:nvSpPr>
        <p:spPr>
          <a:xfrm xmlns:a="http://schemas.openxmlformats.org/drawingml/2006/main">
            <a:off x="6305550" y="2219325"/>
            <a:ext cx="2247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184A3B"/>
                </a:solidFill>
                <a:latin typeface="Aptos Display"/>
                <a:ea typeface="Aptos Display"/>
                <a:cs typeface="Aptos Display"/>
              </a:defRPr>
            </a:pPr>
            <a:r>
              <a:rPr sz="1875" b="1">
                <a:solidFill>
                  <a:srgbClr val="184A3B"/>
                </a:solidFill>
                <a:latin typeface="Aptos Display"/>
                <a:ea typeface="Aptos Display"/>
                <a:cs typeface="Aptos Display"/>
              </a:rPr>
              <a:t>30+ yrs</a:t>
            </a:r>
          </a:p>
        </p:txBody>
      </p:sp>
      <p:sp>
        <p:nvSpPr>
          <p:cNvPr id="13" name="">
            <a:extLst xmlns:a="http://schemas.openxmlformats.org/drawingml/2006/main">
              <a:ext uri="{FF2B5EF4-FFF2-40B4-BE49-F238E27FC236}">
                <a16:creationId xmlns:a16="http://schemas.microsoft.com/office/drawing/2014/main" id="{A3AA1754-4EC1-44AA-9ABE-B3D10BBB75E2}"/>
              </a:ext>
            </a:extLst>
          </p:cNvPr>
          <p:cNvSpPr>
            <a:spLocks xmlns:a="http://schemas.openxmlformats.org/drawingml/2006/main" noGrp="1"/>
          </p:cNvSpPr>
          <p:nvPr/>
        </p:nvSpPr>
        <p:spPr>
          <a:xfrm xmlns:a="http://schemas.openxmlformats.org/drawingml/2006/main">
            <a:off x="6305550" y="2562225"/>
            <a:ext cx="224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digital transformation experience</a:t>
            </a:r>
          </a:p>
        </p:txBody>
      </p:sp>
      <p:sp>
        <p:nvSpPr>
          <p:cNvPr id="14" name="">
            <a:extLst xmlns:a="http://schemas.openxmlformats.org/drawingml/2006/main">
              <a:ext uri="{FF2B5EF4-FFF2-40B4-BE49-F238E27FC236}">
                <a16:creationId xmlns:a16="http://schemas.microsoft.com/office/drawing/2014/main" id="{BA7BA9BE-0B87-4465-BEC2-13F149649A4B}"/>
              </a:ext>
            </a:extLst>
          </p:cNvPr>
          <p:cNvSpPr>
            <a:spLocks xmlns:a="http://schemas.openxmlformats.org/drawingml/2006/main" noGrp="1"/>
          </p:cNvSpPr>
          <p:nvPr/>
        </p:nvSpPr>
        <p:spPr>
          <a:xfrm xmlns:a="http://schemas.openxmlformats.org/drawingml/2006/main">
            <a:off x="8915400" y="2238375"/>
            <a:ext cx="9525" cy="53340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03DA85A-548F-4AA5-A0A1-B219F67DADF6}"/>
              </a:ext>
            </a:extLst>
          </p:cNvPr>
          <p:cNvSpPr>
            <a:spLocks xmlns:a="http://schemas.openxmlformats.org/drawingml/2006/main" noGrp="1"/>
          </p:cNvSpPr>
          <p:nvPr/>
        </p:nvSpPr>
        <p:spPr>
          <a:xfrm xmlns:a="http://schemas.openxmlformats.org/drawingml/2006/main">
            <a:off x="9048750" y="2219325"/>
            <a:ext cx="22479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B56A3A"/>
                </a:solidFill>
                <a:latin typeface="Aptos Display"/>
                <a:ea typeface="Aptos Display"/>
                <a:cs typeface="Aptos Display"/>
              </a:defRPr>
            </a:pPr>
            <a:r>
              <a:rPr sz="1875" b="1">
                <a:solidFill>
                  <a:srgbClr val="B56A3A"/>
                </a:solidFill>
                <a:latin typeface="Aptos Display"/>
                <a:ea typeface="Aptos Display"/>
                <a:cs typeface="Aptos Display"/>
              </a:rPr>
              <a:t>CONTACT</a:t>
            </a:r>
          </a:p>
        </p:txBody>
      </p:sp>
      <p:sp>
        <p:nvSpPr>
          <p:cNvPr id="16" name="">
            <a:extLst xmlns:a="http://schemas.openxmlformats.org/drawingml/2006/main">
              <a:ext uri="{FF2B5EF4-FFF2-40B4-BE49-F238E27FC236}">
                <a16:creationId xmlns:a16="http://schemas.microsoft.com/office/drawing/2014/main" id="{65EEC95F-554B-486D-B508-8068C1956886}"/>
              </a:ext>
            </a:extLst>
          </p:cNvPr>
          <p:cNvSpPr>
            <a:spLocks xmlns:a="http://schemas.openxmlformats.org/drawingml/2006/main" noGrp="1"/>
          </p:cNvSpPr>
          <p:nvPr/>
        </p:nvSpPr>
        <p:spPr>
          <a:xfrm xmlns:a="http://schemas.openxmlformats.org/drawingml/2006/main">
            <a:off x="9048750" y="2562225"/>
            <a:ext cx="224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66"/>
                </a:solidFill>
                <a:latin typeface="Aptos"/>
                <a:ea typeface="Aptos"/>
                <a:cs typeface="Aptos"/>
              </a:defRPr>
            </a:pPr>
            <a:r>
              <a:rPr sz="713" b="0">
                <a:solidFill>
                  <a:srgbClr val="657066"/>
                </a:solidFill>
                <a:latin typeface="Aptos"/>
                <a:ea typeface="Aptos"/>
                <a:cs typeface="Aptos"/>
              </a:rPr>
              <a:t>majority stake adds industrial depth</a:t>
            </a:r>
          </a:p>
        </p:txBody>
      </p:sp>
      <p:sp>
        <p:nvSpPr>
          <p:cNvPr id="17" name="">
            <a:extLst xmlns:a="http://schemas.openxmlformats.org/drawingml/2006/main">
              <a:ext uri="{FF2B5EF4-FFF2-40B4-BE49-F238E27FC236}">
                <a16:creationId xmlns:a16="http://schemas.microsoft.com/office/drawing/2014/main" id="{D695B8F1-F728-4EF8-8966-2B88165118FD}"/>
              </a:ext>
            </a:extLst>
          </p:cNvPr>
          <p:cNvSpPr>
            <a:spLocks xmlns:a="http://schemas.openxmlformats.org/drawingml/2006/main" noGrp="1"/>
          </p:cNvSpPr>
          <p:nvPr/>
        </p:nvSpPr>
        <p:spPr>
          <a:xfrm xmlns:a="http://schemas.openxmlformats.org/drawingml/2006/main">
            <a:off x="685800" y="3219450"/>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BB833135-D71B-4B77-9824-C77190BA6F74}"/>
              </a:ext>
            </a:extLst>
          </p:cNvPr>
          <p:cNvSpPr>
            <a:spLocks xmlns:a="http://schemas.openxmlformats.org/drawingml/2006/main" noGrp="1"/>
          </p:cNvSpPr>
          <p:nvPr/>
        </p:nvSpPr>
        <p:spPr>
          <a:xfrm xmlns:a="http://schemas.openxmlformats.org/drawingml/2006/main">
            <a:off x="685800" y="3676650"/>
            <a:ext cx="2428875" cy="1381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19" name="">
            <a:extLst xmlns:a="http://schemas.openxmlformats.org/drawingml/2006/main">
              <a:ext uri="{FF2B5EF4-FFF2-40B4-BE49-F238E27FC236}">
                <a16:creationId xmlns:a16="http://schemas.microsoft.com/office/drawing/2014/main" id="{C81D8332-6F57-4D6A-B354-28451597C2A5}"/>
              </a:ext>
            </a:extLst>
          </p:cNvPr>
          <p:cNvSpPr>
            <a:spLocks xmlns:a="http://schemas.openxmlformats.org/drawingml/2006/main" noGrp="1"/>
          </p:cNvSpPr>
          <p:nvPr/>
        </p:nvSpPr>
        <p:spPr>
          <a:xfrm xmlns:a="http://schemas.openxmlformats.org/drawingml/2006/main">
            <a:off x="685800" y="3676650"/>
            <a:ext cx="2428875" cy="38100"/>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7A5E3E8-82CC-4B82-9713-7F28DC8D24B2}"/>
              </a:ext>
            </a:extLst>
          </p:cNvPr>
          <p:cNvSpPr>
            <a:spLocks xmlns:a="http://schemas.openxmlformats.org/drawingml/2006/main" noGrp="1"/>
          </p:cNvSpPr>
          <p:nvPr/>
        </p:nvSpPr>
        <p:spPr>
          <a:xfrm xmlns:a="http://schemas.openxmlformats.org/drawingml/2006/main">
            <a:off x="838200" y="3829050"/>
            <a:ext cx="21240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Strategy &amp; consulting</a:t>
            </a:r>
          </a:p>
        </p:txBody>
      </p:sp>
      <p:sp>
        <p:nvSpPr>
          <p:cNvPr id="21" name="">
            <a:extLst xmlns:a="http://schemas.openxmlformats.org/drawingml/2006/main">
              <a:ext uri="{FF2B5EF4-FFF2-40B4-BE49-F238E27FC236}">
                <a16:creationId xmlns:a16="http://schemas.microsoft.com/office/drawing/2014/main" id="{8D05A839-FF93-461E-A43F-475FDE494391}"/>
              </a:ext>
            </a:extLst>
          </p:cNvPr>
          <p:cNvSpPr>
            <a:spLocks xmlns:a="http://schemas.openxmlformats.org/drawingml/2006/main" noGrp="1"/>
          </p:cNvSpPr>
          <p:nvPr/>
        </p:nvSpPr>
        <p:spPr>
          <a:xfrm xmlns:a="http://schemas.openxmlformats.org/drawingml/2006/main">
            <a:off x="838200" y="4133850"/>
            <a:ext cx="2124075" cy="809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Business transformation, growth, AI transformation, brand, experience, product and technology choices.</a:t>
            </a:r>
          </a:p>
        </p:txBody>
      </p:sp>
      <p:sp>
        <p:nvSpPr>
          <p:cNvPr id="22" name="">
            <a:extLst xmlns:a="http://schemas.openxmlformats.org/drawingml/2006/main">
              <a:ext uri="{FF2B5EF4-FFF2-40B4-BE49-F238E27FC236}">
                <a16:creationId xmlns:a16="http://schemas.microsoft.com/office/drawing/2014/main" id="{E1D88F1F-9D73-4194-9575-B4E022D33E89}"/>
              </a:ext>
            </a:extLst>
          </p:cNvPr>
          <p:cNvSpPr>
            <a:spLocks xmlns:a="http://schemas.openxmlformats.org/drawingml/2006/main" noGrp="1"/>
          </p:cNvSpPr>
          <p:nvPr/>
        </p:nvSpPr>
        <p:spPr>
          <a:xfrm xmlns:a="http://schemas.openxmlformats.org/drawingml/2006/main">
            <a:off x="3448050" y="3676650"/>
            <a:ext cx="2428875" cy="1381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23" name="">
            <a:extLst xmlns:a="http://schemas.openxmlformats.org/drawingml/2006/main">
              <a:ext uri="{FF2B5EF4-FFF2-40B4-BE49-F238E27FC236}">
                <a16:creationId xmlns:a16="http://schemas.microsoft.com/office/drawing/2014/main" id="{62D38B38-9A7B-4F57-ADA6-528684F244E1}"/>
              </a:ext>
            </a:extLst>
          </p:cNvPr>
          <p:cNvSpPr>
            <a:spLocks xmlns:a="http://schemas.openxmlformats.org/drawingml/2006/main" noGrp="1"/>
          </p:cNvSpPr>
          <p:nvPr/>
        </p:nvSpPr>
        <p:spPr>
          <a:xfrm xmlns:a="http://schemas.openxmlformats.org/drawingml/2006/main">
            <a:off x="3448050" y="3676650"/>
            <a:ext cx="2428875" cy="3810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451215F-E968-46AA-84D9-2BD668E443F0}"/>
              </a:ext>
            </a:extLst>
          </p:cNvPr>
          <p:cNvSpPr>
            <a:spLocks xmlns:a="http://schemas.openxmlformats.org/drawingml/2006/main" noGrp="1"/>
          </p:cNvSpPr>
          <p:nvPr/>
        </p:nvSpPr>
        <p:spPr>
          <a:xfrm xmlns:a="http://schemas.openxmlformats.org/drawingml/2006/main">
            <a:off x="3600450" y="3829050"/>
            <a:ext cx="21240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Content &amp; creation</a:t>
            </a:r>
          </a:p>
        </p:txBody>
      </p:sp>
      <p:sp>
        <p:nvSpPr>
          <p:cNvPr id="25" name="">
            <a:extLst xmlns:a="http://schemas.openxmlformats.org/drawingml/2006/main">
              <a:ext uri="{FF2B5EF4-FFF2-40B4-BE49-F238E27FC236}">
                <a16:creationId xmlns:a16="http://schemas.microsoft.com/office/drawing/2014/main" id="{E28224F2-39B3-4059-9382-AE6C14A8B615}"/>
              </a:ext>
            </a:extLst>
          </p:cNvPr>
          <p:cNvSpPr>
            <a:spLocks xmlns:a="http://schemas.openxmlformats.org/drawingml/2006/main" noGrp="1"/>
          </p:cNvSpPr>
          <p:nvPr/>
        </p:nvSpPr>
        <p:spPr>
          <a:xfrm xmlns:a="http://schemas.openxmlformats.org/drawingml/2006/main">
            <a:off x="3600450" y="4133850"/>
            <a:ext cx="2124075" cy="809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UX, storytelling, campaigns, design and performance; valuable, but not enough as a Nordic point of difference.</a:t>
            </a:r>
          </a:p>
        </p:txBody>
      </p:sp>
      <p:sp>
        <p:nvSpPr>
          <p:cNvPr id="26" name="">
            <a:extLst xmlns:a="http://schemas.openxmlformats.org/drawingml/2006/main">
              <a:ext uri="{FF2B5EF4-FFF2-40B4-BE49-F238E27FC236}">
                <a16:creationId xmlns:a16="http://schemas.microsoft.com/office/drawing/2014/main" id="{AFF6070C-EAAC-4D6F-B088-AA013105C3AD}"/>
              </a:ext>
            </a:extLst>
          </p:cNvPr>
          <p:cNvSpPr>
            <a:spLocks xmlns:a="http://schemas.openxmlformats.org/drawingml/2006/main" noGrp="1"/>
          </p:cNvSpPr>
          <p:nvPr/>
        </p:nvSpPr>
        <p:spPr>
          <a:xfrm xmlns:a="http://schemas.openxmlformats.org/drawingml/2006/main">
            <a:off x="6210300" y="3676650"/>
            <a:ext cx="2428875" cy="1381125"/>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27" name="">
            <a:extLst xmlns:a="http://schemas.openxmlformats.org/drawingml/2006/main">
              <a:ext uri="{FF2B5EF4-FFF2-40B4-BE49-F238E27FC236}">
                <a16:creationId xmlns:a16="http://schemas.microsoft.com/office/drawing/2014/main" id="{56325AB4-C8DC-4E6E-81AD-4869A8EDE409}"/>
              </a:ext>
            </a:extLst>
          </p:cNvPr>
          <p:cNvSpPr>
            <a:spLocks xmlns:a="http://schemas.openxmlformats.org/drawingml/2006/main" noGrp="1"/>
          </p:cNvSpPr>
          <p:nvPr/>
        </p:nvSpPr>
        <p:spPr>
          <a:xfrm xmlns:a="http://schemas.openxmlformats.org/drawingml/2006/main">
            <a:off x="6210300" y="3676650"/>
            <a:ext cx="2428875" cy="38100"/>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DC9AD62-14C7-4B6A-8FFF-54C239CCE1A2}"/>
              </a:ext>
            </a:extLst>
          </p:cNvPr>
          <p:cNvSpPr>
            <a:spLocks xmlns:a="http://schemas.openxmlformats.org/drawingml/2006/main" noGrp="1"/>
          </p:cNvSpPr>
          <p:nvPr/>
        </p:nvSpPr>
        <p:spPr>
          <a:xfrm xmlns:a="http://schemas.openxmlformats.org/drawingml/2006/main">
            <a:off x="6362700" y="3829050"/>
            <a:ext cx="21240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Technology &amp; development</a:t>
            </a:r>
          </a:p>
        </p:txBody>
      </p:sp>
      <p:sp>
        <p:nvSpPr>
          <p:cNvPr id="29" name="">
            <a:extLst xmlns:a="http://schemas.openxmlformats.org/drawingml/2006/main">
              <a:ext uri="{FF2B5EF4-FFF2-40B4-BE49-F238E27FC236}">
                <a16:creationId xmlns:a16="http://schemas.microsoft.com/office/drawing/2014/main" id="{B0D3A0C9-FA53-4AB8-8072-93072EFD20D3}"/>
              </a:ext>
            </a:extLst>
          </p:cNvPr>
          <p:cNvSpPr>
            <a:spLocks xmlns:a="http://schemas.openxmlformats.org/drawingml/2006/main" noGrp="1"/>
          </p:cNvSpPr>
          <p:nvPr/>
        </p:nvSpPr>
        <p:spPr>
          <a:xfrm xmlns:a="http://schemas.openxmlformats.org/drawingml/2006/main">
            <a:off x="6362700" y="4133850"/>
            <a:ext cx="2124075" cy="809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Architecture, software, DevOps, hosting, DXP/CMS, e-commerce, ERP, PIM, DAM and AI implementation.</a:t>
            </a:r>
          </a:p>
        </p:txBody>
      </p:sp>
      <p:sp>
        <p:nvSpPr>
          <p:cNvPr id="30" name="">
            <a:extLst xmlns:a="http://schemas.openxmlformats.org/drawingml/2006/main">
              <a:ext uri="{FF2B5EF4-FFF2-40B4-BE49-F238E27FC236}">
                <a16:creationId xmlns:a16="http://schemas.microsoft.com/office/drawing/2014/main" id="{80EEED95-5231-49FA-8653-F646079239F6}"/>
              </a:ext>
            </a:extLst>
          </p:cNvPr>
          <p:cNvSpPr>
            <a:spLocks xmlns:a="http://schemas.openxmlformats.org/drawingml/2006/main" noGrp="1"/>
          </p:cNvSpPr>
          <p:nvPr/>
        </p:nvSpPr>
        <p:spPr>
          <a:xfrm xmlns:a="http://schemas.openxmlformats.org/drawingml/2006/main">
            <a:off x="8953500" y="3676650"/>
            <a:ext cx="2286000" cy="1381125"/>
          </a:xfrm>
          <a:prstGeom xmlns:a="http://schemas.openxmlformats.org/drawingml/2006/main" prst="rect">
            <a:avLst/>
          </a:prstGeom>
          <a:solidFill xmlns:a="http://schemas.openxmlformats.org/drawingml/2006/main">
            <a:srgbClr val="202824"/>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5AC6DADD-DD40-4912-A650-43B4AA5D91F9}"/>
              </a:ext>
            </a:extLst>
          </p:cNvPr>
          <p:cNvSpPr>
            <a:spLocks xmlns:a="http://schemas.openxmlformats.org/drawingml/2006/main" noGrp="1"/>
          </p:cNvSpPr>
          <p:nvPr/>
        </p:nvSpPr>
        <p:spPr>
          <a:xfrm xmlns:a="http://schemas.openxmlformats.org/drawingml/2006/main">
            <a:off x="9124950" y="3867150"/>
            <a:ext cx="1885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8CB9C7"/>
                </a:solidFill>
                <a:latin typeface="Aptos Mono"/>
                <a:ea typeface="Aptos Mono"/>
                <a:cs typeface="Aptos Mono"/>
              </a:defRPr>
            </a:pPr>
            <a:r>
              <a:rPr sz="1050" b="1">
                <a:solidFill>
                  <a:srgbClr val="8CB9C7"/>
                </a:solidFill>
                <a:latin typeface="Aptos Mono"/>
                <a:ea typeface="Aptos Mono"/>
                <a:cs typeface="Aptos Mono"/>
              </a:rPr>
              <a:t>Nordic implication</a:t>
            </a:r>
          </a:p>
        </p:txBody>
      </p:sp>
      <p:sp>
        <p:nvSpPr>
          <p:cNvPr id="32" name="">
            <a:extLst xmlns:a="http://schemas.openxmlformats.org/drawingml/2006/main">
              <a:ext uri="{FF2B5EF4-FFF2-40B4-BE49-F238E27FC236}">
                <a16:creationId xmlns:a16="http://schemas.microsoft.com/office/drawing/2014/main" id="{3B3581BA-4DC7-4A8B-96C2-F3BDC0809200}"/>
              </a:ext>
            </a:extLst>
          </p:cNvPr>
          <p:cNvSpPr>
            <a:spLocks xmlns:a="http://schemas.openxmlformats.org/drawingml/2006/main" noGrp="1"/>
          </p:cNvSpPr>
          <p:nvPr/>
        </p:nvSpPr>
        <p:spPr>
          <a:xfrm xmlns:a="http://schemas.openxmlformats.org/drawingml/2006/main">
            <a:off x="9124950" y="4229100"/>
            <a:ext cx="18669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Display"/>
                <a:ea typeface="Aptos Display"/>
                <a:cs typeface="Aptos Display"/>
              </a:defRPr>
            </a:pPr>
            <a:r>
              <a:rPr sz="1050" b="1">
                <a:solidFill>
                  <a:srgbClr val="FFFFFF"/>
                </a:solidFill>
                <a:latin typeface="Aptos Display"/>
                <a:ea typeface="Aptos Display"/>
                <a:cs typeface="Aptos Display"/>
              </a:rPr>
              <a:t>The offer is broad enough. The first job is focus: which problem, which sector, which proof, which conversation?</a:t>
            </a:r>
          </a:p>
        </p:txBody>
      </p:sp>
      <p:sp>
        <p:nvSpPr>
          <p:cNvPr id="33" name="">
            <a:extLst xmlns:a="http://schemas.openxmlformats.org/drawingml/2006/main">
              <a:ext uri="{FF2B5EF4-FFF2-40B4-BE49-F238E27FC236}">
                <a16:creationId xmlns:a16="http://schemas.microsoft.com/office/drawing/2014/main" id="{EF4DDED6-E6E7-4F8D-9875-C0B9A95FF310}"/>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F030737D-2253-4FD2-A759-A1F3905EAA4E}"/>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Sources: team neusta IAR 2025, Who we are, services pages; CONTACT Software press release</a:t>
            </a:r>
          </a:p>
        </p:txBody>
      </p:sp>
      <p:sp>
        <p:nvSpPr>
          <p:cNvPr id="35" name="">
            <a:extLst xmlns:a="http://schemas.openxmlformats.org/drawingml/2006/main">
              <a:ext uri="{FF2B5EF4-FFF2-40B4-BE49-F238E27FC236}">
                <a16:creationId xmlns:a16="http://schemas.microsoft.com/office/drawing/2014/main" id="{9BD22B6E-CC83-4D6D-B727-F81E4E9FA455}"/>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02</a:t>
            </a:r>
          </a:p>
        </p:txBody>
      </p:sp>
    </p:spTree>
    <p:extLst>
      <p:ext uri="{BB962C8B-B14F-4D97-AF65-F5344CB8AC3E}">
        <p14:creationId xmlns:p14="http://schemas.microsoft.com/office/powerpoint/2010/main" val="7793923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93286F-2332-42E2-96B7-4CF76CF24D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7F630A3-0778-41BD-9549-3798256F95B9}"/>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0C17821-63DF-4FA1-8371-5449E383EED7}"/>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TRANSLATION GAP</a:t>
            </a:r>
          </a:p>
        </p:txBody>
      </p:sp>
      <p:sp>
        <p:nvSpPr>
          <p:cNvPr id="4" name="">
            <a:extLst xmlns:a="http://schemas.openxmlformats.org/drawingml/2006/main">
              <a:ext uri="{FF2B5EF4-FFF2-40B4-BE49-F238E27FC236}">
                <a16:creationId xmlns:a16="http://schemas.microsoft.com/office/drawing/2014/main" id="{707A9ECA-1186-4401-9BF4-CD138E0A6AA7}"/>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Nordic entry is not a language exercise; it is a trust and proof exercise.</a:t>
            </a:r>
          </a:p>
        </p:txBody>
      </p:sp>
      <p:sp>
        <p:nvSpPr>
          <p:cNvPr id="5" name="">
            <a:extLst xmlns:a="http://schemas.openxmlformats.org/drawingml/2006/main">
              <a:ext uri="{FF2B5EF4-FFF2-40B4-BE49-F238E27FC236}">
                <a16:creationId xmlns:a16="http://schemas.microsoft.com/office/drawing/2014/main" id="{75AA4503-2078-4D4C-8662-B742A93C4868}"/>
              </a:ext>
            </a:extLst>
          </p:cNvPr>
          <p:cNvSpPr>
            <a:spLocks xmlns:a="http://schemas.openxmlformats.org/drawingml/2006/main" noGrp="1"/>
          </p:cNvSpPr>
          <p:nvPr/>
        </p:nvSpPr>
        <p:spPr>
          <a:xfrm xmlns:a="http://schemas.openxmlformats.org/drawingml/2006/main">
            <a:off x="666750" y="2628900"/>
            <a:ext cx="2809875" cy="219075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92CCCEC-0349-4388-B469-389AF375A5FD}"/>
              </a:ext>
            </a:extLst>
          </p:cNvPr>
          <p:cNvSpPr>
            <a:spLocks xmlns:a="http://schemas.openxmlformats.org/drawingml/2006/main" noGrp="1"/>
          </p:cNvSpPr>
          <p:nvPr/>
        </p:nvSpPr>
        <p:spPr>
          <a:xfrm xmlns:a="http://schemas.openxmlformats.org/drawingml/2006/main">
            <a:off x="876300" y="2857500"/>
            <a:ext cx="2238375"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a:ea typeface="Aptos"/>
                <a:cs typeface="Aptos"/>
              </a:defRPr>
            </a:pPr>
            <a:r>
              <a:rPr sz="1275" b="1">
                <a:solidFill>
                  <a:srgbClr val="17211C"/>
                </a:solidFill>
                <a:latin typeface="Aptos"/>
                <a:ea typeface="Aptos"/>
                <a:cs typeface="Aptos"/>
              </a:rPr>
              <a:t>German capability language</a:t>
            </a:r>
          </a:p>
        </p:txBody>
      </p:sp>
      <p:sp>
        <p:nvSpPr>
          <p:cNvPr id="7" name="">
            <a:extLst xmlns:a="http://schemas.openxmlformats.org/drawingml/2006/main">
              <a:ext uri="{FF2B5EF4-FFF2-40B4-BE49-F238E27FC236}">
                <a16:creationId xmlns:a16="http://schemas.microsoft.com/office/drawing/2014/main" id="{5EFDDC59-2364-40F8-9E61-DD18DAE2CD08}"/>
              </a:ext>
            </a:extLst>
          </p:cNvPr>
          <p:cNvSpPr>
            <a:spLocks xmlns:a="http://schemas.openxmlformats.org/drawingml/2006/main" noGrp="1"/>
          </p:cNvSpPr>
          <p:nvPr/>
        </p:nvSpPr>
        <p:spPr>
          <a:xfrm xmlns:a="http://schemas.openxmlformats.org/drawingml/2006/main">
            <a:off x="876300" y="3314700"/>
            <a:ext cx="2238375"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Scale</a:t>
            </a:r>
          </a:p>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Full-service portfolio</a:t>
            </a:r>
          </a:p>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Technical depth</a:t>
            </a:r>
          </a:p>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Transformation track record</a:t>
            </a:r>
          </a:p>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Broad delivery capacity</a:t>
            </a:r>
          </a:p>
        </p:txBody>
      </p:sp>
      <p:sp>
        <p:nvSpPr>
          <p:cNvPr id="8" name="">
            <a:extLst xmlns:a="http://schemas.openxmlformats.org/drawingml/2006/main">
              <a:ext uri="{FF2B5EF4-FFF2-40B4-BE49-F238E27FC236}">
                <a16:creationId xmlns:a16="http://schemas.microsoft.com/office/drawing/2014/main" id="{B0CD9B1E-A32E-4216-9A07-8D8631F3B0E4}"/>
              </a:ext>
            </a:extLst>
          </p:cNvPr>
          <p:cNvSpPr>
            <a:spLocks xmlns:a="http://schemas.openxmlformats.org/drawingml/2006/main" noGrp="1"/>
          </p:cNvSpPr>
          <p:nvPr/>
        </p:nvSpPr>
        <p:spPr>
          <a:xfrm xmlns:a="http://schemas.openxmlformats.org/drawingml/2006/main">
            <a:off x="3829050" y="3676650"/>
            <a:ext cx="125730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3D3BE9C3-55A7-4901-825F-19CCF35BF4CF}"/>
              </a:ext>
            </a:extLst>
          </p:cNvPr>
          <p:cNvSpPr>
            <a:spLocks xmlns:a="http://schemas.openxmlformats.org/drawingml/2006/main" noGrp="1"/>
          </p:cNvSpPr>
          <p:nvPr/>
        </p:nvSpPr>
        <p:spPr>
          <a:xfrm xmlns:a="http://schemas.openxmlformats.org/drawingml/2006/main">
            <a:off x="5010150" y="3638550"/>
            <a:ext cx="76200" cy="76200"/>
          </a:xfrm>
          <a:prstGeom xmlns:a="http://schemas.openxmlformats.org/drawingml/2006/main" prst="triangle">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12F7D4D-F4D9-423F-96FA-D986A3593460}"/>
              </a:ext>
            </a:extLst>
          </p:cNvPr>
          <p:cNvSpPr>
            <a:spLocks xmlns:a="http://schemas.openxmlformats.org/drawingml/2006/main" noGrp="1"/>
          </p:cNvSpPr>
          <p:nvPr/>
        </p:nvSpPr>
        <p:spPr>
          <a:xfrm xmlns:a="http://schemas.openxmlformats.org/drawingml/2006/main">
            <a:off x="5334000" y="2362200"/>
            <a:ext cx="2952750" cy="2857500"/>
          </a:xfrm>
          <a:prstGeom xmlns:a="http://schemas.openxmlformats.org/drawingml/2006/main" prst="rect">
            <a:avLst/>
          </a:prstGeom>
          <a:solidFill xmlns:a="http://schemas.openxmlformats.org/drawingml/2006/main">
            <a:srgbClr val="202824"/>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840DCEC-D9A4-485C-8506-BE7C78335F5A}"/>
              </a:ext>
            </a:extLst>
          </p:cNvPr>
          <p:cNvSpPr>
            <a:spLocks xmlns:a="http://schemas.openxmlformats.org/drawingml/2006/main" noGrp="1"/>
          </p:cNvSpPr>
          <p:nvPr/>
        </p:nvSpPr>
        <p:spPr>
          <a:xfrm xmlns:a="http://schemas.openxmlformats.org/drawingml/2006/main">
            <a:off x="5581650" y="2724150"/>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8CB9C7"/>
                </a:solidFill>
                <a:latin typeface="Aptos Mono"/>
                <a:ea typeface="Aptos Mono"/>
                <a:cs typeface="Aptos Mono"/>
              </a:defRPr>
            </a:pPr>
            <a:r>
              <a:rPr sz="975" b="1">
                <a:solidFill>
                  <a:srgbClr val="8CB9C7"/>
                </a:solidFill>
                <a:latin typeface="Aptos Mono"/>
                <a:ea typeface="Aptos Mono"/>
                <a:cs typeface="Aptos Mono"/>
              </a:rPr>
              <a:t>NORC bridge</a:t>
            </a:r>
          </a:p>
        </p:txBody>
      </p:sp>
      <p:sp>
        <p:nvSpPr>
          <p:cNvPr id="12" name="">
            <a:extLst xmlns:a="http://schemas.openxmlformats.org/drawingml/2006/main">
              <a:ext uri="{FF2B5EF4-FFF2-40B4-BE49-F238E27FC236}">
                <a16:creationId xmlns:a16="http://schemas.microsoft.com/office/drawing/2014/main" id="{4AC91211-A36F-439C-A0A5-ED9F799C633A}"/>
              </a:ext>
            </a:extLst>
          </p:cNvPr>
          <p:cNvSpPr>
            <a:spLocks xmlns:a="http://schemas.openxmlformats.org/drawingml/2006/main" noGrp="1"/>
          </p:cNvSpPr>
          <p:nvPr/>
        </p:nvSpPr>
        <p:spPr>
          <a:xfrm xmlns:a="http://schemas.openxmlformats.org/drawingml/2006/main">
            <a:off x="5581650" y="3143250"/>
            <a:ext cx="219075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Make the offer locally relevant, credible and commercially concrete before outreach.</a:t>
            </a:r>
          </a:p>
        </p:txBody>
      </p:sp>
      <p:sp>
        <p:nvSpPr>
          <p:cNvPr id="13" name="">
            <a:extLst xmlns:a="http://schemas.openxmlformats.org/drawingml/2006/main">
              <a:ext uri="{FF2B5EF4-FFF2-40B4-BE49-F238E27FC236}">
                <a16:creationId xmlns:a16="http://schemas.microsoft.com/office/drawing/2014/main" id="{EC1ECF37-4C65-4335-9FAE-89BE55CE56D9}"/>
              </a:ext>
            </a:extLst>
          </p:cNvPr>
          <p:cNvSpPr>
            <a:spLocks xmlns:a="http://schemas.openxmlformats.org/drawingml/2006/main" noGrp="1"/>
          </p:cNvSpPr>
          <p:nvPr/>
        </p:nvSpPr>
        <p:spPr>
          <a:xfrm xmlns:a="http://schemas.openxmlformats.org/drawingml/2006/main">
            <a:off x="5581650" y="4629150"/>
            <a:ext cx="876300" cy="266700"/>
          </a:xfrm>
          <a:prstGeom xmlns:a="http://schemas.openxmlformats.org/drawingml/2006/main" prst="rect">
            <a:avLst/>
          </a:prstGeom>
          <a:solidFill xmlns:a="http://schemas.openxmlformats.org/drawingml/2006/main">
            <a:srgbClr val="8CB9C7"/>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E0219A4-D23B-4E7A-8047-44DFC597EF0D}"/>
              </a:ext>
            </a:extLst>
          </p:cNvPr>
          <p:cNvSpPr>
            <a:spLocks xmlns:a="http://schemas.openxmlformats.org/drawingml/2006/main" noGrp="1"/>
          </p:cNvSpPr>
          <p:nvPr/>
        </p:nvSpPr>
        <p:spPr>
          <a:xfrm xmlns:a="http://schemas.openxmlformats.org/drawingml/2006/main">
            <a:off x="5695950" y="4676775"/>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7211C"/>
                </a:solidFill>
                <a:latin typeface="Aptos Mono"/>
                <a:ea typeface="Aptos Mono"/>
                <a:cs typeface="Aptos Mono"/>
              </a:defRPr>
            </a:pPr>
            <a:r>
              <a:rPr sz="750" b="1">
                <a:solidFill>
                  <a:srgbClr val="17211C"/>
                </a:solidFill>
                <a:latin typeface="Aptos Mono"/>
                <a:ea typeface="Aptos Mono"/>
                <a:cs typeface="Aptos Mono"/>
              </a:rPr>
              <a:t>Position</a:t>
            </a:r>
          </a:p>
        </p:txBody>
      </p:sp>
      <p:sp>
        <p:nvSpPr>
          <p:cNvPr id="15" name="">
            <a:extLst xmlns:a="http://schemas.openxmlformats.org/drawingml/2006/main">
              <a:ext uri="{FF2B5EF4-FFF2-40B4-BE49-F238E27FC236}">
                <a16:creationId xmlns:a16="http://schemas.microsoft.com/office/drawing/2014/main" id="{870B622B-D94D-47C8-B4B8-D955D71E3E32}"/>
              </a:ext>
            </a:extLst>
          </p:cNvPr>
          <p:cNvSpPr>
            <a:spLocks xmlns:a="http://schemas.openxmlformats.org/drawingml/2006/main" noGrp="1"/>
          </p:cNvSpPr>
          <p:nvPr/>
        </p:nvSpPr>
        <p:spPr>
          <a:xfrm xmlns:a="http://schemas.openxmlformats.org/drawingml/2006/main">
            <a:off x="6610350" y="4629150"/>
            <a:ext cx="876300" cy="266700"/>
          </a:xfrm>
          <a:prstGeom xmlns:a="http://schemas.openxmlformats.org/drawingml/2006/main" prst="rect">
            <a:avLst/>
          </a:prstGeom>
          <a:solidFill xmlns:a="http://schemas.openxmlformats.org/drawingml/2006/main">
            <a:srgbClr val="8CB9C7"/>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67FB9B7-6F86-4CA5-A3AE-A6EF82DF3EA5}"/>
              </a:ext>
            </a:extLst>
          </p:cNvPr>
          <p:cNvSpPr>
            <a:spLocks xmlns:a="http://schemas.openxmlformats.org/drawingml/2006/main" noGrp="1"/>
          </p:cNvSpPr>
          <p:nvPr/>
        </p:nvSpPr>
        <p:spPr>
          <a:xfrm xmlns:a="http://schemas.openxmlformats.org/drawingml/2006/main">
            <a:off x="6724650" y="4676775"/>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7211C"/>
                </a:solidFill>
                <a:latin typeface="Aptos Mono"/>
                <a:ea typeface="Aptos Mono"/>
                <a:cs typeface="Aptos Mono"/>
              </a:defRPr>
            </a:pPr>
            <a:r>
              <a:rPr sz="750" b="1">
                <a:solidFill>
                  <a:srgbClr val="17211C"/>
                </a:solidFill>
                <a:latin typeface="Aptos Mono"/>
                <a:ea typeface="Aptos Mono"/>
                <a:cs typeface="Aptos Mono"/>
              </a:rPr>
              <a:t>Package</a:t>
            </a:r>
          </a:p>
        </p:txBody>
      </p:sp>
      <p:sp>
        <p:nvSpPr>
          <p:cNvPr id="17" name="">
            <a:extLst xmlns:a="http://schemas.openxmlformats.org/drawingml/2006/main">
              <a:ext uri="{FF2B5EF4-FFF2-40B4-BE49-F238E27FC236}">
                <a16:creationId xmlns:a16="http://schemas.microsoft.com/office/drawing/2014/main" id="{5E601FF5-2777-4CD8-B253-0D084C2494E6}"/>
              </a:ext>
            </a:extLst>
          </p:cNvPr>
          <p:cNvSpPr>
            <a:spLocks xmlns:a="http://schemas.openxmlformats.org/drawingml/2006/main" noGrp="1"/>
          </p:cNvSpPr>
          <p:nvPr/>
        </p:nvSpPr>
        <p:spPr>
          <a:xfrm xmlns:a="http://schemas.openxmlformats.org/drawingml/2006/main">
            <a:off x="7639050" y="4629150"/>
            <a:ext cx="590550" cy="266700"/>
          </a:xfrm>
          <a:prstGeom xmlns:a="http://schemas.openxmlformats.org/drawingml/2006/main" prst="rect">
            <a:avLst/>
          </a:prstGeom>
          <a:solidFill xmlns:a="http://schemas.openxmlformats.org/drawingml/2006/main">
            <a:srgbClr val="8CB9C7"/>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E9434089-ABE3-426D-90E8-5FCAD15923C2}"/>
              </a:ext>
            </a:extLst>
          </p:cNvPr>
          <p:cNvSpPr>
            <a:spLocks xmlns:a="http://schemas.openxmlformats.org/drawingml/2006/main" noGrp="1"/>
          </p:cNvSpPr>
          <p:nvPr/>
        </p:nvSpPr>
        <p:spPr>
          <a:xfrm xmlns:a="http://schemas.openxmlformats.org/drawingml/2006/main">
            <a:off x="7753350" y="4676775"/>
            <a:ext cx="36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7211C"/>
                </a:solidFill>
                <a:latin typeface="Aptos Mono"/>
                <a:ea typeface="Aptos Mono"/>
                <a:cs typeface="Aptos Mono"/>
              </a:defRPr>
            </a:pPr>
            <a:r>
              <a:rPr sz="750" b="1">
                <a:solidFill>
                  <a:srgbClr val="17211C"/>
                </a:solidFill>
                <a:latin typeface="Aptos Mono"/>
                <a:ea typeface="Aptos Mono"/>
                <a:cs typeface="Aptos Mono"/>
              </a:rPr>
              <a:t>Prove</a:t>
            </a:r>
          </a:p>
        </p:txBody>
      </p:sp>
      <p:sp>
        <p:nvSpPr>
          <p:cNvPr id="19" name="">
            <a:extLst xmlns:a="http://schemas.openxmlformats.org/drawingml/2006/main">
              <a:ext uri="{FF2B5EF4-FFF2-40B4-BE49-F238E27FC236}">
                <a16:creationId xmlns:a16="http://schemas.microsoft.com/office/drawing/2014/main" id="{93C086FB-5FF9-4551-AD4D-AAA1FF53533D}"/>
              </a:ext>
            </a:extLst>
          </p:cNvPr>
          <p:cNvSpPr>
            <a:spLocks xmlns:a="http://schemas.openxmlformats.org/drawingml/2006/main" noGrp="1"/>
          </p:cNvSpPr>
          <p:nvPr/>
        </p:nvSpPr>
        <p:spPr>
          <a:xfrm xmlns:a="http://schemas.openxmlformats.org/drawingml/2006/main">
            <a:off x="8648700" y="3676650"/>
            <a:ext cx="125730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F29919C-7F33-46BA-B276-A325AC06F3D9}"/>
              </a:ext>
            </a:extLst>
          </p:cNvPr>
          <p:cNvSpPr>
            <a:spLocks xmlns:a="http://schemas.openxmlformats.org/drawingml/2006/main" noGrp="1"/>
          </p:cNvSpPr>
          <p:nvPr/>
        </p:nvSpPr>
        <p:spPr>
          <a:xfrm xmlns:a="http://schemas.openxmlformats.org/drawingml/2006/main">
            <a:off x="9829800" y="3638550"/>
            <a:ext cx="76200" cy="76200"/>
          </a:xfrm>
          <a:prstGeom xmlns:a="http://schemas.openxmlformats.org/drawingml/2006/main" prst="triangle">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C960938-E10F-4CF6-8182-D4BEA4E593F6}"/>
              </a:ext>
            </a:extLst>
          </p:cNvPr>
          <p:cNvSpPr>
            <a:spLocks xmlns:a="http://schemas.openxmlformats.org/drawingml/2006/main" noGrp="1"/>
          </p:cNvSpPr>
          <p:nvPr/>
        </p:nvSpPr>
        <p:spPr>
          <a:xfrm xmlns:a="http://schemas.openxmlformats.org/drawingml/2006/main">
            <a:off x="10134600" y="2628900"/>
            <a:ext cx="1428750" cy="219075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EEE9F7D9-10E8-46EF-A8D9-B59E4582DB56}"/>
              </a:ext>
            </a:extLst>
          </p:cNvPr>
          <p:cNvSpPr>
            <a:spLocks xmlns:a="http://schemas.openxmlformats.org/drawingml/2006/main" noGrp="1"/>
          </p:cNvSpPr>
          <p:nvPr/>
        </p:nvSpPr>
        <p:spPr>
          <a:xfrm xmlns:a="http://schemas.openxmlformats.org/drawingml/2006/main">
            <a:off x="10306050" y="2857500"/>
            <a:ext cx="1000125"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a:ea typeface="Aptos"/>
                <a:cs typeface="Aptos"/>
              </a:defRPr>
            </a:pPr>
            <a:r>
              <a:rPr sz="1275" b="1">
                <a:solidFill>
                  <a:srgbClr val="17211C"/>
                </a:solidFill>
                <a:latin typeface="Aptos"/>
                <a:ea typeface="Aptos"/>
                <a:cs typeface="Aptos"/>
              </a:rPr>
              <a:t>Nordic buying logic</a:t>
            </a:r>
          </a:p>
        </p:txBody>
      </p:sp>
      <p:sp>
        <p:nvSpPr>
          <p:cNvPr id="23" name="">
            <a:extLst xmlns:a="http://schemas.openxmlformats.org/drawingml/2006/main">
              <a:ext uri="{FF2B5EF4-FFF2-40B4-BE49-F238E27FC236}">
                <a16:creationId xmlns:a16="http://schemas.microsoft.com/office/drawing/2014/main" id="{690AA829-2470-4640-8126-A8F6EB81998B}"/>
              </a:ext>
            </a:extLst>
          </p:cNvPr>
          <p:cNvSpPr>
            <a:spLocks xmlns:a="http://schemas.openxmlformats.org/drawingml/2006/main" noGrp="1"/>
          </p:cNvSpPr>
          <p:nvPr/>
        </p:nvSpPr>
        <p:spPr>
          <a:xfrm xmlns:a="http://schemas.openxmlformats.org/drawingml/2006/main">
            <a:off x="10306050" y="3429000"/>
            <a:ext cx="1028700" cy="1200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66"/>
                </a:solidFill>
                <a:latin typeface="Aptos"/>
                <a:ea typeface="Aptos"/>
                <a:cs typeface="Aptos"/>
              </a:defRPr>
            </a:pPr>
            <a:r>
              <a:rPr sz="1013" b="0">
                <a:solidFill>
                  <a:srgbClr val="657066"/>
                </a:solidFill>
                <a:latin typeface="Aptos"/>
                <a:ea typeface="Aptos"/>
                <a:cs typeface="Aptos"/>
              </a:rPr>
              <a:t>Low tolerance for sales theatre</a:t>
            </a:r>
          </a:p>
          <a:p xmlns:a="http://schemas.openxmlformats.org/drawingml/2006/main">
            <a:pPr algn="l">
              <a:defRPr sz="1013" b="0">
                <a:solidFill>
                  <a:srgbClr val="657066"/>
                </a:solidFill>
                <a:latin typeface="Aptos"/>
                <a:ea typeface="Aptos"/>
                <a:cs typeface="Aptos"/>
              </a:defRPr>
            </a:pPr>
            <a:r>
              <a:rPr sz="1013" b="0">
                <a:solidFill>
                  <a:srgbClr val="657066"/>
                </a:solidFill>
                <a:latin typeface="Aptos"/>
                <a:ea typeface="Aptos"/>
                <a:cs typeface="Aptos"/>
              </a:rPr>
              <a:t>Consensus and risk control</a:t>
            </a:r>
          </a:p>
          <a:p xmlns:a="http://schemas.openxmlformats.org/drawingml/2006/main">
            <a:pPr algn="l">
              <a:defRPr sz="1013" b="0">
                <a:solidFill>
                  <a:srgbClr val="657066"/>
                </a:solidFill>
                <a:latin typeface="Aptos"/>
                <a:ea typeface="Aptos"/>
                <a:cs typeface="Aptos"/>
              </a:defRPr>
            </a:pPr>
            <a:r>
              <a:rPr sz="1013" b="0">
                <a:solidFill>
                  <a:srgbClr val="657066"/>
                </a:solidFill>
                <a:latin typeface="Aptos"/>
                <a:ea typeface="Aptos"/>
                <a:cs typeface="Aptos"/>
              </a:rPr>
              <a:t>Concrete local proof</a:t>
            </a:r>
          </a:p>
          <a:p xmlns:a="http://schemas.openxmlformats.org/drawingml/2006/main">
            <a:pPr algn="l">
              <a:defRPr sz="1013" b="0">
                <a:solidFill>
                  <a:srgbClr val="657066"/>
                </a:solidFill>
                <a:latin typeface="Aptos"/>
                <a:ea typeface="Aptos"/>
                <a:cs typeface="Aptos"/>
              </a:defRPr>
            </a:pPr>
            <a:r>
              <a:rPr sz="1013" b="0">
                <a:solidFill>
                  <a:srgbClr val="657066"/>
                </a:solidFill>
                <a:latin typeface="Aptos"/>
                <a:ea typeface="Aptos"/>
                <a:cs typeface="Aptos"/>
              </a:rPr>
              <a:t>Long-term trust</a:t>
            </a:r>
          </a:p>
        </p:txBody>
      </p:sp>
      <p:sp>
        <p:nvSpPr>
          <p:cNvPr id="24" name="">
            <a:extLst xmlns:a="http://schemas.openxmlformats.org/drawingml/2006/main">
              <a:ext uri="{FF2B5EF4-FFF2-40B4-BE49-F238E27FC236}">
                <a16:creationId xmlns:a16="http://schemas.microsoft.com/office/drawing/2014/main" id="{7A40A15E-623E-47CF-A0F9-6DEBE246BC36}"/>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6F4E920-CBAD-4D22-BE74-94D167CA2CEB}"/>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26" name="">
            <a:extLst xmlns:a="http://schemas.openxmlformats.org/drawingml/2006/main">
              <a:ext uri="{FF2B5EF4-FFF2-40B4-BE49-F238E27FC236}">
                <a16:creationId xmlns:a16="http://schemas.microsoft.com/office/drawing/2014/main" id="{C8BF8623-A0FA-4FA1-BD4C-1BB97208778D}"/>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03</a:t>
            </a:r>
          </a:p>
        </p:txBody>
      </p:sp>
    </p:spTree>
    <p:extLst>
      <p:ext uri="{BB962C8B-B14F-4D97-AF65-F5344CB8AC3E}">
        <p14:creationId xmlns:p14="http://schemas.microsoft.com/office/powerpoint/2010/main" val="16207993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3B107A-3824-4842-956B-19DE42D823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F509106-A80B-43E5-AEFA-7AA8EF0D9211}"/>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7218292-F1B1-4C4A-805C-069638A70304}"/>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NORC ROLE</a:t>
            </a:r>
          </a:p>
        </p:txBody>
      </p:sp>
      <p:sp>
        <p:nvSpPr>
          <p:cNvPr id="4" name="">
            <a:extLst xmlns:a="http://schemas.openxmlformats.org/drawingml/2006/main">
              <a:ext uri="{FF2B5EF4-FFF2-40B4-BE49-F238E27FC236}">
                <a16:creationId xmlns:a16="http://schemas.microsoft.com/office/drawing/2014/main" id="{2DF2928C-6156-4BF6-926D-C7AAC54B8A7E}"/>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The collaboration only works if NORC is engaged before the offer is packaged and sold.</a:t>
            </a:r>
          </a:p>
        </p:txBody>
      </p:sp>
      <p:sp>
        <p:nvSpPr>
          <p:cNvPr id="5" name="">
            <a:extLst xmlns:a="http://schemas.openxmlformats.org/drawingml/2006/main">
              <a:ext uri="{FF2B5EF4-FFF2-40B4-BE49-F238E27FC236}">
                <a16:creationId xmlns:a16="http://schemas.microsoft.com/office/drawing/2014/main" id="{2B1B9FFF-D571-4CEB-A69E-A9C622F36425}"/>
              </a:ext>
            </a:extLst>
          </p:cNvPr>
          <p:cNvSpPr>
            <a:spLocks xmlns:a="http://schemas.openxmlformats.org/drawingml/2006/main" noGrp="1"/>
          </p:cNvSpPr>
          <p:nvPr/>
        </p:nvSpPr>
        <p:spPr>
          <a:xfrm xmlns:a="http://schemas.openxmlformats.org/drawingml/2006/main">
            <a:off x="1066800" y="2190750"/>
            <a:ext cx="2190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657066"/>
                </a:solidFill>
                <a:latin typeface="Aptos Display"/>
                <a:ea typeface="Aptos Display"/>
                <a:cs typeface="Aptos Display"/>
              </a:defRPr>
            </a:pPr>
            <a:r>
              <a:rPr sz="1650" b="1">
                <a:solidFill>
                  <a:srgbClr val="657066"/>
                </a:solidFill>
                <a:latin typeface="Aptos Display"/>
                <a:ea typeface="Aptos Display"/>
                <a:cs typeface="Aptos Display"/>
              </a:rPr>
              <a:t>Lead agent</a:t>
            </a:r>
          </a:p>
        </p:txBody>
      </p:sp>
      <p:sp>
        <p:nvSpPr>
          <p:cNvPr id="6" name="">
            <a:extLst xmlns:a="http://schemas.openxmlformats.org/drawingml/2006/main">
              <a:ext uri="{FF2B5EF4-FFF2-40B4-BE49-F238E27FC236}">
                <a16:creationId xmlns:a16="http://schemas.microsoft.com/office/drawing/2014/main" id="{82A6C11A-E945-46C5-A3A1-A5A99775E576}"/>
              </a:ext>
            </a:extLst>
          </p:cNvPr>
          <p:cNvSpPr>
            <a:spLocks xmlns:a="http://schemas.openxmlformats.org/drawingml/2006/main" noGrp="1"/>
          </p:cNvSpPr>
          <p:nvPr/>
        </p:nvSpPr>
        <p:spPr>
          <a:xfrm xmlns:a="http://schemas.openxmlformats.org/drawingml/2006/main">
            <a:off x="6115050" y="21907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84A3B"/>
                </a:solidFill>
                <a:latin typeface="Aptos Display"/>
                <a:ea typeface="Aptos Display"/>
                <a:cs typeface="Aptos Display"/>
              </a:defRPr>
            </a:pPr>
            <a:r>
              <a:rPr sz="1650" b="1">
                <a:solidFill>
                  <a:srgbClr val="184A3B"/>
                </a:solidFill>
                <a:latin typeface="Aptos Display"/>
                <a:ea typeface="Aptos Display"/>
                <a:cs typeface="Aptos Display"/>
              </a:rPr>
              <a:t>Market-entry and positioning partner</a:t>
            </a:r>
          </a:p>
        </p:txBody>
      </p:sp>
      <p:sp>
        <p:nvSpPr>
          <p:cNvPr id="7" name="">
            <a:extLst xmlns:a="http://schemas.openxmlformats.org/drawingml/2006/main">
              <a:ext uri="{FF2B5EF4-FFF2-40B4-BE49-F238E27FC236}">
                <a16:creationId xmlns:a16="http://schemas.microsoft.com/office/drawing/2014/main" id="{4EB47782-8776-4799-8E57-B3E8DC00EFAB}"/>
              </a:ext>
            </a:extLst>
          </p:cNvPr>
          <p:cNvSpPr>
            <a:spLocks xmlns:a="http://schemas.openxmlformats.org/drawingml/2006/main" noGrp="1"/>
          </p:cNvSpPr>
          <p:nvPr/>
        </p:nvSpPr>
        <p:spPr>
          <a:xfrm xmlns:a="http://schemas.openxmlformats.org/drawingml/2006/main">
            <a:off x="857250" y="2714625"/>
            <a:ext cx="10382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561A11D-34D7-429E-8BA9-856D41D7E306}"/>
              </a:ext>
            </a:extLst>
          </p:cNvPr>
          <p:cNvSpPr>
            <a:spLocks xmlns:a="http://schemas.openxmlformats.org/drawingml/2006/main" noGrp="1"/>
          </p:cNvSpPr>
          <p:nvPr/>
        </p:nvSpPr>
        <p:spPr>
          <a:xfrm xmlns:a="http://schemas.openxmlformats.org/drawingml/2006/main">
            <a:off x="857250" y="30099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Timing</a:t>
            </a:r>
          </a:p>
        </p:txBody>
      </p:sp>
      <p:sp>
        <p:nvSpPr>
          <p:cNvPr id="9" name="">
            <a:extLst xmlns:a="http://schemas.openxmlformats.org/drawingml/2006/main">
              <a:ext uri="{FF2B5EF4-FFF2-40B4-BE49-F238E27FC236}">
                <a16:creationId xmlns:a16="http://schemas.microsoft.com/office/drawing/2014/main" id="{9E27165D-5E6D-4482-B352-A2CDD69A1A6A}"/>
              </a:ext>
            </a:extLst>
          </p:cNvPr>
          <p:cNvSpPr>
            <a:spLocks xmlns:a="http://schemas.openxmlformats.org/drawingml/2006/main" noGrp="1"/>
          </p:cNvSpPr>
          <p:nvPr/>
        </p:nvSpPr>
        <p:spPr>
          <a:xfrm xmlns:a="http://schemas.openxmlformats.org/drawingml/2006/main">
            <a:off x="2190750" y="29908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After sales material is finished</a:t>
            </a:r>
          </a:p>
        </p:txBody>
      </p:sp>
      <p:sp>
        <p:nvSpPr>
          <p:cNvPr id="10" name="">
            <a:extLst xmlns:a="http://schemas.openxmlformats.org/drawingml/2006/main">
              <a:ext uri="{FF2B5EF4-FFF2-40B4-BE49-F238E27FC236}">
                <a16:creationId xmlns:a16="http://schemas.microsoft.com/office/drawing/2014/main" id="{55527717-B467-4D61-9EFA-4DC5610AAABA}"/>
              </a:ext>
            </a:extLst>
          </p:cNvPr>
          <p:cNvSpPr>
            <a:spLocks xmlns:a="http://schemas.openxmlformats.org/drawingml/2006/main" noGrp="1"/>
          </p:cNvSpPr>
          <p:nvPr/>
        </p:nvSpPr>
        <p:spPr>
          <a:xfrm xmlns:a="http://schemas.openxmlformats.org/drawingml/2006/main">
            <a:off x="6115050" y="2990850"/>
            <a:ext cx="4114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Early: market hypothesis, positioning, proof and first conversations</a:t>
            </a:r>
          </a:p>
        </p:txBody>
      </p:sp>
      <p:sp>
        <p:nvSpPr>
          <p:cNvPr id="11" name="">
            <a:extLst xmlns:a="http://schemas.openxmlformats.org/drawingml/2006/main">
              <a:ext uri="{FF2B5EF4-FFF2-40B4-BE49-F238E27FC236}">
                <a16:creationId xmlns:a16="http://schemas.microsoft.com/office/drawing/2014/main" id="{4B7AB16A-B530-42D0-8533-2BA11AC35CA6}"/>
              </a:ext>
            </a:extLst>
          </p:cNvPr>
          <p:cNvSpPr>
            <a:spLocks xmlns:a="http://schemas.openxmlformats.org/drawingml/2006/main" noGrp="1"/>
          </p:cNvSpPr>
          <p:nvPr/>
        </p:nvSpPr>
        <p:spPr>
          <a:xfrm xmlns:a="http://schemas.openxmlformats.org/drawingml/2006/main">
            <a:off x="857250" y="3467100"/>
            <a:ext cx="10382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A9EB09A-ED43-4482-A60E-11FEC4B76B79}"/>
              </a:ext>
            </a:extLst>
          </p:cNvPr>
          <p:cNvSpPr>
            <a:spLocks xmlns:a="http://schemas.openxmlformats.org/drawingml/2006/main" noGrp="1"/>
          </p:cNvSpPr>
          <p:nvPr/>
        </p:nvSpPr>
        <p:spPr>
          <a:xfrm xmlns:a="http://schemas.openxmlformats.org/drawingml/2006/main">
            <a:off x="857250" y="36576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Value</a:t>
            </a:r>
          </a:p>
        </p:txBody>
      </p:sp>
      <p:sp>
        <p:nvSpPr>
          <p:cNvPr id="13" name="">
            <a:extLst xmlns:a="http://schemas.openxmlformats.org/drawingml/2006/main">
              <a:ext uri="{FF2B5EF4-FFF2-40B4-BE49-F238E27FC236}">
                <a16:creationId xmlns:a16="http://schemas.microsoft.com/office/drawing/2014/main" id="{25E90BC2-6692-4FD8-8963-4F3A8CA3569A}"/>
              </a:ext>
            </a:extLst>
          </p:cNvPr>
          <p:cNvSpPr>
            <a:spLocks xmlns:a="http://schemas.openxmlformats.org/drawingml/2006/main" noGrp="1"/>
          </p:cNvSpPr>
          <p:nvPr/>
        </p:nvSpPr>
        <p:spPr>
          <a:xfrm xmlns:a="http://schemas.openxmlformats.org/drawingml/2006/main">
            <a:off x="2190750" y="36385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Introductions and contact lists</a:t>
            </a:r>
          </a:p>
        </p:txBody>
      </p:sp>
      <p:sp>
        <p:nvSpPr>
          <p:cNvPr id="14" name="">
            <a:extLst xmlns:a="http://schemas.openxmlformats.org/drawingml/2006/main">
              <a:ext uri="{FF2B5EF4-FFF2-40B4-BE49-F238E27FC236}">
                <a16:creationId xmlns:a16="http://schemas.microsoft.com/office/drawing/2014/main" id="{3E6736BB-1FA2-4DAD-8B96-9FE4872D7BFB}"/>
              </a:ext>
            </a:extLst>
          </p:cNvPr>
          <p:cNvSpPr>
            <a:spLocks xmlns:a="http://schemas.openxmlformats.org/drawingml/2006/main" noGrp="1"/>
          </p:cNvSpPr>
          <p:nvPr/>
        </p:nvSpPr>
        <p:spPr>
          <a:xfrm xmlns:a="http://schemas.openxmlformats.org/drawingml/2006/main">
            <a:off x="6115050" y="3638550"/>
            <a:ext cx="4114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Nordic decision logic, offer focus, trust-building and commercial narrative</a:t>
            </a:r>
          </a:p>
        </p:txBody>
      </p:sp>
      <p:sp>
        <p:nvSpPr>
          <p:cNvPr id="15" name="">
            <a:extLst xmlns:a="http://schemas.openxmlformats.org/drawingml/2006/main">
              <a:ext uri="{FF2B5EF4-FFF2-40B4-BE49-F238E27FC236}">
                <a16:creationId xmlns:a16="http://schemas.microsoft.com/office/drawing/2014/main" id="{F3B3D9B0-8DF5-4829-8877-DDD757F6C0D0}"/>
              </a:ext>
            </a:extLst>
          </p:cNvPr>
          <p:cNvSpPr>
            <a:spLocks xmlns:a="http://schemas.openxmlformats.org/drawingml/2006/main" noGrp="1"/>
          </p:cNvSpPr>
          <p:nvPr/>
        </p:nvSpPr>
        <p:spPr>
          <a:xfrm xmlns:a="http://schemas.openxmlformats.org/drawingml/2006/main">
            <a:off x="857250" y="4114800"/>
            <a:ext cx="10382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6CAC462-AE1B-4EFC-9BEA-8822F44EC0DA}"/>
              </a:ext>
            </a:extLst>
          </p:cNvPr>
          <p:cNvSpPr>
            <a:spLocks xmlns:a="http://schemas.openxmlformats.org/drawingml/2006/main" noGrp="1"/>
          </p:cNvSpPr>
          <p:nvPr/>
        </p:nvSpPr>
        <p:spPr>
          <a:xfrm xmlns:a="http://schemas.openxmlformats.org/drawingml/2006/main">
            <a:off x="857250" y="43053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Risk</a:t>
            </a:r>
          </a:p>
        </p:txBody>
      </p:sp>
      <p:sp>
        <p:nvSpPr>
          <p:cNvPr id="17" name="">
            <a:extLst xmlns:a="http://schemas.openxmlformats.org/drawingml/2006/main">
              <a:ext uri="{FF2B5EF4-FFF2-40B4-BE49-F238E27FC236}">
                <a16:creationId xmlns:a16="http://schemas.microsoft.com/office/drawing/2014/main" id="{9E3BC4AD-1785-4DA6-BA53-29601507BB4D}"/>
              </a:ext>
            </a:extLst>
          </p:cNvPr>
          <p:cNvSpPr>
            <a:spLocks xmlns:a="http://schemas.openxmlformats.org/drawingml/2006/main" noGrp="1"/>
          </p:cNvSpPr>
          <p:nvPr/>
        </p:nvSpPr>
        <p:spPr>
          <a:xfrm xmlns:a="http://schemas.openxmlformats.org/drawingml/2006/main">
            <a:off x="2190750" y="42862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NORC becomes a borrowed sales channel</a:t>
            </a:r>
          </a:p>
        </p:txBody>
      </p:sp>
      <p:sp>
        <p:nvSpPr>
          <p:cNvPr id="18" name="">
            <a:extLst xmlns:a="http://schemas.openxmlformats.org/drawingml/2006/main">
              <a:ext uri="{FF2B5EF4-FFF2-40B4-BE49-F238E27FC236}">
                <a16:creationId xmlns:a16="http://schemas.microsoft.com/office/drawing/2014/main" id="{80DE28F3-8465-404B-B5C6-D1937A534048}"/>
              </a:ext>
            </a:extLst>
          </p:cNvPr>
          <p:cNvSpPr>
            <a:spLocks xmlns:a="http://schemas.openxmlformats.org/drawingml/2006/main" noGrp="1"/>
          </p:cNvSpPr>
          <p:nvPr/>
        </p:nvSpPr>
        <p:spPr>
          <a:xfrm xmlns:a="http://schemas.openxmlformats.org/drawingml/2006/main">
            <a:off x="6115050" y="4286250"/>
            <a:ext cx="4114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Both sides invest in an asset that improves market entry odds</a:t>
            </a:r>
          </a:p>
        </p:txBody>
      </p:sp>
      <p:sp>
        <p:nvSpPr>
          <p:cNvPr id="19" name="">
            <a:extLst xmlns:a="http://schemas.openxmlformats.org/drawingml/2006/main">
              <a:ext uri="{FF2B5EF4-FFF2-40B4-BE49-F238E27FC236}">
                <a16:creationId xmlns:a16="http://schemas.microsoft.com/office/drawing/2014/main" id="{D2765E97-2657-48C3-A37F-E107F3C33C24}"/>
              </a:ext>
            </a:extLst>
          </p:cNvPr>
          <p:cNvSpPr>
            <a:spLocks xmlns:a="http://schemas.openxmlformats.org/drawingml/2006/main" noGrp="1"/>
          </p:cNvSpPr>
          <p:nvPr/>
        </p:nvSpPr>
        <p:spPr>
          <a:xfrm xmlns:a="http://schemas.openxmlformats.org/drawingml/2006/main">
            <a:off x="857250" y="4762500"/>
            <a:ext cx="10382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C16532D-3B0C-488D-B08C-44DD5886A283}"/>
              </a:ext>
            </a:extLst>
          </p:cNvPr>
          <p:cNvSpPr>
            <a:spLocks xmlns:a="http://schemas.openxmlformats.org/drawingml/2006/main" noGrp="1"/>
          </p:cNvSpPr>
          <p:nvPr/>
        </p:nvSpPr>
        <p:spPr>
          <a:xfrm xmlns:a="http://schemas.openxmlformats.org/drawingml/2006/main">
            <a:off x="857250" y="495300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Commercial logic</a:t>
            </a:r>
          </a:p>
        </p:txBody>
      </p:sp>
      <p:sp>
        <p:nvSpPr>
          <p:cNvPr id="21" name="">
            <a:extLst xmlns:a="http://schemas.openxmlformats.org/drawingml/2006/main">
              <a:ext uri="{FF2B5EF4-FFF2-40B4-BE49-F238E27FC236}">
                <a16:creationId xmlns:a16="http://schemas.microsoft.com/office/drawing/2014/main" id="{A03B32E3-59BC-4EBD-A6DE-C617CBC94F8E}"/>
              </a:ext>
            </a:extLst>
          </p:cNvPr>
          <p:cNvSpPr>
            <a:spLocks xmlns:a="http://schemas.openxmlformats.org/drawingml/2006/main" noGrp="1"/>
          </p:cNvSpPr>
          <p:nvPr/>
        </p:nvSpPr>
        <p:spPr>
          <a:xfrm xmlns:a="http://schemas.openxmlformats.org/drawingml/2006/main">
            <a:off x="2190750" y="4933950"/>
            <a:ext cx="3143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66"/>
                </a:solidFill>
                <a:latin typeface="Aptos"/>
                <a:ea typeface="Aptos"/>
                <a:cs typeface="Aptos"/>
              </a:defRPr>
            </a:pPr>
            <a:r>
              <a:rPr sz="1125" b="0">
                <a:solidFill>
                  <a:srgbClr val="657066"/>
                </a:solidFill>
                <a:latin typeface="Aptos"/>
                <a:ea typeface="Aptos"/>
                <a:cs typeface="Aptos"/>
              </a:rPr>
              <a:t>Low-margin activity tied to uncertain leads</a:t>
            </a:r>
          </a:p>
        </p:txBody>
      </p:sp>
      <p:sp>
        <p:nvSpPr>
          <p:cNvPr id="22" name="">
            <a:extLst xmlns:a="http://schemas.openxmlformats.org/drawingml/2006/main">
              <a:ext uri="{FF2B5EF4-FFF2-40B4-BE49-F238E27FC236}">
                <a16:creationId xmlns:a16="http://schemas.microsoft.com/office/drawing/2014/main" id="{4B3EFBA2-FA12-470F-8A2F-1C487FE0CA7C}"/>
              </a:ext>
            </a:extLst>
          </p:cNvPr>
          <p:cNvSpPr>
            <a:spLocks xmlns:a="http://schemas.openxmlformats.org/drawingml/2006/main" noGrp="1"/>
          </p:cNvSpPr>
          <p:nvPr/>
        </p:nvSpPr>
        <p:spPr>
          <a:xfrm xmlns:a="http://schemas.openxmlformats.org/drawingml/2006/main">
            <a:off x="6115050" y="4933950"/>
            <a:ext cx="41148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7211C"/>
                </a:solidFill>
                <a:latin typeface="Aptos"/>
                <a:ea typeface="Aptos"/>
                <a:cs typeface="Aptos"/>
              </a:defRPr>
            </a:pPr>
            <a:r>
              <a:rPr sz="1125" b="1">
                <a:solidFill>
                  <a:srgbClr val="17211C"/>
                </a:solidFill>
                <a:latin typeface="Aptos"/>
                <a:ea typeface="Aptos"/>
                <a:cs typeface="Aptos"/>
              </a:rPr>
              <a:t>Paid strategic pilot with clear outputs and optional success upside</a:t>
            </a:r>
          </a:p>
        </p:txBody>
      </p:sp>
      <p:sp>
        <p:nvSpPr>
          <p:cNvPr id="23" name="">
            <a:extLst xmlns:a="http://schemas.openxmlformats.org/drawingml/2006/main">
              <a:ext uri="{FF2B5EF4-FFF2-40B4-BE49-F238E27FC236}">
                <a16:creationId xmlns:a16="http://schemas.microsoft.com/office/drawing/2014/main" id="{EBB34D48-0508-48E6-B749-4406F97D4442}"/>
              </a:ext>
            </a:extLst>
          </p:cNvPr>
          <p:cNvSpPr>
            <a:spLocks xmlns:a="http://schemas.openxmlformats.org/drawingml/2006/main" noGrp="1"/>
          </p:cNvSpPr>
          <p:nvPr/>
        </p:nvSpPr>
        <p:spPr>
          <a:xfrm xmlns:a="http://schemas.openxmlformats.org/drawingml/2006/main">
            <a:off x="857250" y="5410200"/>
            <a:ext cx="10382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DBFEE72-B4D8-4DA8-92D8-52477AFD7084}"/>
              </a:ext>
            </a:extLst>
          </p:cNvPr>
          <p:cNvSpPr>
            <a:spLocks xmlns:a="http://schemas.openxmlformats.org/drawingml/2006/main" noGrp="1"/>
          </p:cNvSpPr>
          <p:nvPr/>
        </p:nvSpPr>
        <p:spPr>
          <a:xfrm xmlns:a="http://schemas.openxmlformats.org/drawingml/2006/main">
            <a:off x="5619750" y="2619375"/>
            <a:ext cx="28575" cy="28765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8D547F6-2638-4FFC-B648-1EAB87ECEB5B}"/>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B12B436F-0939-42EC-BBAD-752597472275}"/>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27" name="">
            <a:extLst xmlns:a="http://schemas.openxmlformats.org/drawingml/2006/main">
              <a:ext uri="{FF2B5EF4-FFF2-40B4-BE49-F238E27FC236}">
                <a16:creationId xmlns:a16="http://schemas.microsoft.com/office/drawing/2014/main" id="{421DE623-9A43-4905-A0EB-C6CAF2A18582}"/>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04</a:t>
            </a:r>
          </a:p>
        </p:txBody>
      </p:sp>
    </p:spTree>
    <p:extLst>
      <p:ext uri="{BB962C8B-B14F-4D97-AF65-F5344CB8AC3E}">
        <p14:creationId xmlns:p14="http://schemas.microsoft.com/office/powerpoint/2010/main" val="93956810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D70E9C-7E43-4F2B-91EE-010955EE56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FBC7EE9-309D-4013-9EA9-54584E54DF07}"/>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2E4452D-09EB-4A1E-8300-2DBE393A0697}"/>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FIRST PLAYS</a:t>
            </a:r>
          </a:p>
        </p:txBody>
      </p:sp>
      <p:sp>
        <p:nvSpPr>
          <p:cNvPr id="4" name="">
            <a:extLst xmlns:a="http://schemas.openxmlformats.org/drawingml/2006/main">
              <a:ext uri="{FF2B5EF4-FFF2-40B4-BE49-F238E27FC236}">
                <a16:creationId xmlns:a16="http://schemas.microsoft.com/office/drawing/2014/main" id="{DD5C1478-260E-4E31-91E9-5EECF3888395}"/>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The Nordic entry point should be three sharp offers, not the full Team Neusta portfolio.</a:t>
            </a:r>
          </a:p>
        </p:txBody>
      </p:sp>
      <p:sp>
        <p:nvSpPr>
          <p:cNvPr id="5" name="">
            <a:extLst xmlns:a="http://schemas.openxmlformats.org/drawingml/2006/main">
              <a:ext uri="{FF2B5EF4-FFF2-40B4-BE49-F238E27FC236}">
                <a16:creationId xmlns:a16="http://schemas.microsoft.com/office/drawing/2014/main" id="{6CC31A7C-9B39-461A-AAD7-67F56833179B}"/>
              </a:ext>
            </a:extLst>
          </p:cNvPr>
          <p:cNvSpPr>
            <a:spLocks xmlns:a="http://schemas.openxmlformats.org/drawingml/2006/main" noGrp="1"/>
          </p:cNvSpPr>
          <p:nvPr/>
        </p:nvSpPr>
        <p:spPr>
          <a:xfrm xmlns:a="http://schemas.openxmlformats.org/drawingml/2006/main">
            <a:off x="666750" y="20383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B56A3A"/>
                </a:solidFill>
                <a:latin typeface="Aptos Mono"/>
                <a:ea typeface="Aptos Mono"/>
                <a:cs typeface="Aptos Mono"/>
              </a:defRPr>
            </a:pPr>
            <a:r>
              <a:rPr sz="788" b="1">
                <a:solidFill>
                  <a:srgbClr val="B56A3A"/>
                </a:solidFill>
                <a:latin typeface="Aptos Mono"/>
                <a:ea typeface="Aptos Mono"/>
                <a:cs typeface="Aptos Mono"/>
              </a:rPr>
              <a:t>Offer track</a:t>
            </a:r>
          </a:p>
        </p:txBody>
      </p:sp>
      <p:sp>
        <p:nvSpPr>
          <p:cNvPr id="6" name="">
            <a:extLst xmlns:a="http://schemas.openxmlformats.org/drawingml/2006/main">
              <a:ext uri="{FF2B5EF4-FFF2-40B4-BE49-F238E27FC236}">
                <a16:creationId xmlns:a16="http://schemas.microsoft.com/office/drawing/2014/main" id="{67CD0E2C-2C31-4E8B-9C42-294A45A26E42}"/>
              </a:ext>
            </a:extLst>
          </p:cNvPr>
          <p:cNvSpPr>
            <a:spLocks xmlns:a="http://schemas.openxmlformats.org/drawingml/2006/main" noGrp="1"/>
          </p:cNvSpPr>
          <p:nvPr/>
        </p:nvSpPr>
        <p:spPr>
          <a:xfrm xmlns:a="http://schemas.openxmlformats.org/drawingml/2006/main">
            <a:off x="3143250" y="203835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B56A3A"/>
                </a:solidFill>
                <a:latin typeface="Aptos Mono"/>
                <a:ea typeface="Aptos Mono"/>
                <a:cs typeface="Aptos Mono"/>
              </a:defRPr>
            </a:pPr>
            <a:r>
              <a:rPr sz="788" b="1">
                <a:solidFill>
                  <a:srgbClr val="B56A3A"/>
                </a:solidFill>
                <a:latin typeface="Aptos Mono"/>
                <a:ea typeface="Aptos Mono"/>
                <a:cs typeface="Aptos Mono"/>
              </a:rPr>
              <a:t>Why it fits Team Neusta</a:t>
            </a:r>
          </a:p>
        </p:txBody>
      </p:sp>
      <p:sp>
        <p:nvSpPr>
          <p:cNvPr id="7" name="">
            <a:extLst xmlns:a="http://schemas.openxmlformats.org/drawingml/2006/main">
              <a:ext uri="{FF2B5EF4-FFF2-40B4-BE49-F238E27FC236}">
                <a16:creationId xmlns:a16="http://schemas.microsoft.com/office/drawing/2014/main" id="{D89C9939-1F0F-4B87-B0A1-FC95166050FA}"/>
              </a:ext>
            </a:extLst>
          </p:cNvPr>
          <p:cNvSpPr>
            <a:spLocks xmlns:a="http://schemas.openxmlformats.org/drawingml/2006/main" noGrp="1"/>
          </p:cNvSpPr>
          <p:nvPr/>
        </p:nvSpPr>
        <p:spPr>
          <a:xfrm xmlns:a="http://schemas.openxmlformats.org/drawingml/2006/main">
            <a:off x="5810250" y="2038350"/>
            <a:ext cx="233362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B56A3A"/>
                </a:solidFill>
                <a:latin typeface="Aptos Mono"/>
                <a:ea typeface="Aptos Mono"/>
                <a:cs typeface="Aptos Mono"/>
              </a:defRPr>
            </a:pPr>
            <a:r>
              <a:rPr sz="788" b="1">
                <a:solidFill>
                  <a:srgbClr val="B56A3A"/>
                </a:solidFill>
                <a:latin typeface="Aptos Mono"/>
                <a:ea typeface="Aptos Mono"/>
                <a:cs typeface="Aptos Mono"/>
              </a:rPr>
              <a:t>Why it fits the Nordics</a:t>
            </a:r>
          </a:p>
        </p:txBody>
      </p:sp>
      <p:sp>
        <p:nvSpPr>
          <p:cNvPr id="8" name="">
            <a:extLst xmlns:a="http://schemas.openxmlformats.org/drawingml/2006/main">
              <a:ext uri="{FF2B5EF4-FFF2-40B4-BE49-F238E27FC236}">
                <a16:creationId xmlns:a16="http://schemas.microsoft.com/office/drawing/2014/main" id="{83F1BFD1-D7F6-4948-AD8E-61A932AD6A87}"/>
              </a:ext>
            </a:extLst>
          </p:cNvPr>
          <p:cNvSpPr>
            <a:spLocks xmlns:a="http://schemas.openxmlformats.org/drawingml/2006/main" noGrp="1"/>
          </p:cNvSpPr>
          <p:nvPr/>
        </p:nvSpPr>
        <p:spPr>
          <a:xfrm xmlns:a="http://schemas.openxmlformats.org/drawingml/2006/main">
            <a:off x="8572500" y="2038350"/>
            <a:ext cx="2238375"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B56A3A"/>
                </a:solidFill>
                <a:latin typeface="Aptos Mono"/>
                <a:ea typeface="Aptos Mono"/>
                <a:cs typeface="Aptos Mono"/>
              </a:defRPr>
            </a:pPr>
            <a:r>
              <a:rPr sz="788" b="1">
                <a:solidFill>
                  <a:srgbClr val="B56A3A"/>
                </a:solidFill>
                <a:latin typeface="Aptos Mono"/>
                <a:ea typeface="Aptos Mono"/>
                <a:cs typeface="Aptos Mono"/>
              </a:rPr>
              <a:t>NORC's role</a:t>
            </a:r>
          </a:p>
        </p:txBody>
      </p:sp>
      <p:sp>
        <p:nvSpPr>
          <p:cNvPr id="9" name="">
            <a:extLst xmlns:a="http://schemas.openxmlformats.org/drawingml/2006/main">
              <a:ext uri="{FF2B5EF4-FFF2-40B4-BE49-F238E27FC236}">
                <a16:creationId xmlns:a16="http://schemas.microsoft.com/office/drawing/2014/main" id="{D44E16EB-C79B-482D-8551-60B980916D4D}"/>
              </a:ext>
            </a:extLst>
          </p:cNvPr>
          <p:cNvSpPr>
            <a:spLocks xmlns:a="http://schemas.openxmlformats.org/drawingml/2006/main" noGrp="1"/>
          </p:cNvSpPr>
          <p:nvPr/>
        </p:nvSpPr>
        <p:spPr>
          <a:xfrm xmlns:a="http://schemas.openxmlformats.org/drawingml/2006/main">
            <a:off x="666750" y="2324100"/>
            <a:ext cx="10144125"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FD31E00-05F2-4AF5-B9CA-8E1A4B2834F6}"/>
              </a:ext>
            </a:extLst>
          </p:cNvPr>
          <p:cNvSpPr>
            <a:spLocks xmlns:a="http://schemas.openxmlformats.org/drawingml/2006/main" noGrp="1"/>
          </p:cNvSpPr>
          <p:nvPr/>
        </p:nvSpPr>
        <p:spPr>
          <a:xfrm xmlns:a="http://schemas.openxmlformats.org/drawingml/2006/main">
            <a:off x="666750" y="2628900"/>
            <a:ext cx="10144125"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1136DAE-EA73-40BB-9DE4-DCF671FAB36C}"/>
              </a:ext>
            </a:extLst>
          </p:cNvPr>
          <p:cNvSpPr>
            <a:spLocks xmlns:a="http://schemas.openxmlformats.org/drawingml/2006/main" noGrp="1"/>
          </p:cNvSpPr>
          <p:nvPr/>
        </p:nvSpPr>
        <p:spPr>
          <a:xfrm xmlns:a="http://schemas.openxmlformats.org/drawingml/2006/main">
            <a:off x="666750" y="2705100"/>
            <a:ext cx="209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Industrial AI</a:t>
            </a:r>
          </a:p>
        </p:txBody>
      </p:sp>
      <p:sp>
        <p:nvSpPr>
          <p:cNvPr id="12" name="">
            <a:extLst xmlns:a="http://schemas.openxmlformats.org/drawingml/2006/main">
              <a:ext uri="{FF2B5EF4-FFF2-40B4-BE49-F238E27FC236}">
                <a16:creationId xmlns:a16="http://schemas.microsoft.com/office/drawing/2014/main" id="{AE4CEF0D-4EA5-4337-A43B-2F2CF890FBA3}"/>
              </a:ext>
            </a:extLst>
          </p:cNvPr>
          <p:cNvSpPr>
            <a:spLocks xmlns:a="http://schemas.openxmlformats.org/drawingml/2006/main" noGrp="1"/>
          </p:cNvSpPr>
          <p:nvPr/>
        </p:nvSpPr>
        <p:spPr>
          <a:xfrm xmlns:a="http://schemas.openxmlformats.org/drawingml/2006/main">
            <a:off x="3143250" y="27051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CONTACT link, AI, architecture and implementation depth</a:t>
            </a:r>
          </a:p>
        </p:txBody>
      </p:sp>
      <p:sp>
        <p:nvSpPr>
          <p:cNvPr id="13" name="">
            <a:extLst xmlns:a="http://schemas.openxmlformats.org/drawingml/2006/main">
              <a:ext uri="{FF2B5EF4-FFF2-40B4-BE49-F238E27FC236}">
                <a16:creationId xmlns:a16="http://schemas.microsoft.com/office/drawing/2014/main" id="{54076D68-D8F1-466C-8D2B-44F9AB4123F0}"/>
              </a:ext>
            </a:extLst>
          </p:cNvPr>
          <p:cNvSpPr>
            <a:spLocks xmlns:a="http://schemas.openxmlformats.org/drawingml/2006/main" noGrp="1"/>
          </p:cNvSpPr>
          <p:nvPr/>
        </p:nvSpPr>
        <p:spPr>
          <a:xfrm xmlns:a="http://schemas.openxmlformats.org/drawingml/2006/main">
            <a:off x="5810250" y="2705100"/>
            <a:ext cx="233362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Manufacturing needs productivity, data control and maintainable automation</a:t>
            </a:r>
          </a:p>
        </p:txBody>
      </p:sp>
      <p:sp>
        <p:nvSpPr>
          <p:cNvPr id="14" name="">
            <a:extLst xmlns:a="http://schemas.openxmlformats.org/drawingml/2006/main">
              <a:ext uri="{FF2B5EF4-FFF2-40B4-BE49-F238E27FC236}">
                <a16:creationId xmlns:a16="http://schemas.microsoft.com/office/drawing/2014/main" id="{9E9BF2C3-7746-4AEE-B981-81F692898F25}"/>
              </a:ext>
            </a:extLst>
          </p:cNvPr>
          <p:cNvSpPr>
            <a:spLocks xmlns:a="http://schemas.openxmlformats.org/drawingml/2006/main" noGrp="1"/>
          </p:cNvSpPr>
          <p:nvPr/>
        </p:nvSpPr>
        <p:spPr>
          <a:xfrm xmlns:a="http://schemas.openxmlformats.org/drawingml/2006/main">
            <a:off x="8572500" y="2705100"/>
            <a:ext cx="223837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Frame business cases, proof needs and sector-specific narrative</a:t>
            </a:r>
          </a:p>
        </p:txBody>
      </p:sp>
      <p:sp>
        <p:nvSpPr>
          <p:cNvPr id="15" name="">
            <a:extLst xmlns:a="http://schemas.openxmlformats.org/drawingml/2006/main">
              <a:ext uri="{FF2B5EF4-FFF2-40B4-BE49-F238E27FC236}">
                <a16:creationId xmlns:a16="http://schemas.microsoft.com/office/drawing/2014/main" id="{A8CF2E63-73BD-48FD-8B7B-90B40B9A746D}"/>
              </a:ext>
            </a:extLst>
          </p:cNvPr>
          <p:cNvSpPr>
            <a:spLocks xmlns:a="http://schemas.openxmlformats.org/drawingml/2006/main" noGrp="1"/>
          </p:cNvSpPr>
          <p:nvPr/>
        </p:nvSpPr>
        <p:spPr>
          <a:xfrm xmlns:a="http://schemas.openxmlformats.org/drawingml/2006/main">
            <a:off x="666750" y="3429000"/>
            <a:ext cx="10144125"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51C38C8-1E27-48A1-88E2-27F053DD9A73}"/>
              </a:ext>
            </a:extLst>
          </p:cNvPr>
          <p:cNvSpPr>
            <a:spLocks xmlns:a="http://schemas.openxmlformats.org/drawingml/2006/main" noGrp="1"/>
          </p:cNvSpPr>
          <p:nvPr/>
        </p:nvSpPr>
        <p:spPr>
          <a:xfrm xmlns:a="http://schemas.openxmlformats.org/drawingml/2006/main">
            <a:off x="666750" y="3619500"/>
            <a:ext cx="10144125" cy="781050"/>
          </a:xfrm>
          <a:prstGeom xmlns:a="http://schemas.openxmlformats.org/drawingml/2006/main" prst="rect">
            <a:avLst/>
          </a:prstGeom>
          <a:solidFill xmlns:a="http://schemas.openxmlformats.org/drawingml/2006/main">
            <a:srgbClr val="F1EBDC"/>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33E081E-D9BE-4115-9F94-89DC03A18CAD}"/>
              </a:ext>
            </a:extLst>
          </p:cNvPr>
          <p:cNvSpPr>
            <a:spLocks xmlns:a="http://schemas.openxmlformats.org/drawingml/2006/main" noGrp="1"/>
          </p:cNvSpPr>
          <p:nvPr/>
        </p:nvSpPr>
        <p:spPr>
          <a:xfrm xmlns:a="http://schemas.openxmlformats.org/drawingml/2006/main">
            <a:off x="666750" y="3695700"/>
            <a:ext cx="209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Digital resilience</a:t>
            </a:r>
          </a:p>
        </p:txBody>
      </p:sp>
      <p:sp>
        <p:nvSpPr>
          <p:cNvPr id="18" name="">
            <a:extLst xmlns:a="http://schemas.openxmlformats.org/drawingml/2006/main">
              <a:ext uri="{FF2B5EF4-FFF2-40B4-BE49-F238E27FC236}">
                <a16:creationId xmlns:a16="http://schemas.microsoft.com/office/drawing/2014/main" id="{375CEC64-9EAE-49CF-AD6C-251C642C5EF6}"/>
              </a:ext>
            </a:extLst>
          </p:cNvPr>
          <p:cNvSpPr>
            <a:spLocks xmlns:a="http://schemas.openxmlformats.org/drawingml/2006/main" noGrp="1"/>
          </p:cNvSpPr>
          <p:nvPr/>
        </p:nvSpPr>
        <p:spPr>
          <a:xfrm xmlns:a="http://schemas.openxmlformats.org/drawingml/2006/main">
            <a:off x="3143250" y="36957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Secure platforms, hosting, DevOps and long-term maintainability</a:t>
            </a:r>
          </a:p>
        </p:txBody>
      </p:sp>
      <p:sp>
        <p:nvSpPr>
          <p:cNvPr id="19" name="">
            <a:extLst xmlns:a="http://schemas.openxmlformats.org/drawingml/2006/main">
              <a:ext uri="{FF2B5EF4-FFF2-40B4-BE49-F238E27FC236}">
                <a16:creationId xmlns:a16="http://schemas.microsoft.com/office/drawing/2014/main" id="{D083D031-1DD8-4B84-BB81-DF451141A7AC}"/>
              </a:ext>
            </a:extLst>
          </p:cNvPr>
          <p:cNvSpPr>
            <a:spLocks xmlns:a="http://schemas.openxmlformats.org/drawingml/2006/main" noGrp="1"/>
          </p:cNvSpPr>
          <p:nvPr/>
        </p:nvSpPr>
        <p:spPr>
          <a:xfrm xmlns:a="http://schemas.openxmlformats.org/drawingml/2006/main">
            <a:off x="5810250" y="3695700"/>
            <a:ext cx="233362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Public and critical organizations need robustness, governance and trust</a:t>
            </a:r>
          </a:p>
        </p:txBody>
      </p:sp>
      <p:sp>
        <p:nvSpPr>
          <p:cNvPr id="20" name="">
            <a:extLst xmlns:a="http://schemas.openxmlformats.org/drawingml/2006/main">
              <a:ext uri="{FF2B5EF4-FFF2-40B4-BE49-F238E27FC236}">
                <a16:creationId xmlns:a16="http://schemas.microsoft.com/office/drawing/2014/main" id="{7BD3CF51-F7A7-408C-A97C-909EC70ED1D1}"/>
              </a:ext>
            </a:extLst>
          </p:cNvPr>
          <p:cNvSpPr>
            <a:spLocks xmlns:a="http://schemas.openxmlformats.org/drawingml/2006/main" noGrp="1"/>
          </p:cNvSpPr>
          <p:nvPr/>
        </p:nvSpPr>
        <p:spPr>
          <a:xfrm xmlns:a="http://schemas.openxmlformats.org/drawingml/2006/main">
            <a:off x="8572500" y="3695700"/>
            <a:ext cx="223837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Translate security and resilience into credible buyer language</a:t>
            </a:r>
          </a:p>
        </p:txBody>
      </p:sp>
      <p:sp>
        <p:nvSpPr>
          <p:cNvPr id="21" name="">
            <a:extLst xmlns:a="http://schemas.openxmlformats.org/drawingml/2006/main">
              <a:ext uri="{FF2B5EF4-FFF2-40B4-BE49-F238E27FC236}">
                <a16:creationId xmlns:a16="http://schemas.microsoft.com/office/drawing/2014/main" id="{10D7FCBE-8C56-43CA-9823-DA6857C02A76}"/>
              </a:ext>
            </a:extLst>
          </p:cNvPr>
          <p:cNvSpPr>
            <a:spLocks xmlns:a="http://schemas.openxmlformats.org/drawingml/2006/main" noGrp="1"/>
          </p:cNvSpPr>
          <p:nvPr/>
        </p:nvSpPr>
        <p:spPr>
          <a:xfrm xmlns:a="http://schemas.openxmlformats.org/drawingml/2006/main">
            <a:off x="666750" y="4419600"/>
            <a:ext cx="10144125"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C6F2AC0-D1BB-4D17-923C-67596014F331}"/>
              </a:ext>
            </a:extLst>
          </p:cNvPr>
          <p:cNvSpPr>
            <a:spLocks xmlns:a="http://schemas.openxmlformats.org/drawingml/2006/main" noGrp="1"/>
          </p:cNvSpPr>
          <p:nvPr/>
        </p:nvSpPr>
        <p:spPr>
          <a:xfrm xmlns:a="http://schemas.openxmlformats.org/drawingml/2006/main">
            <a:off x="666750" y="4610100"/>
            <a:ext cx="10144125"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18509EC-0836-43F9-BEB8-9D6C10F796A4}"/>
              </a:ext>
            </a:extLst>
          </p:cNvPr>
          <p:cNvSpPr>
            <a:spLocks xmlns:a="http://schemas.openxmlformats.org/drawingml/2006/main" noGrp="1"/>
          </p:cNvSpPr>
          <p:nvPr/>
        </p:nvSpPr>
        <p:spPr>
          <a:xfrm xmlns:a="http://schemas.openxmlformats.org/drawingml/2006/main">
            <a:off x="666750" y="4686300"/>
            <a:ext cx="209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Secure / dual-use digitalization</a:t>
            </a:r>
          </a:p>
        </p:txBody>
      </p:sp>
      <p:sp>
        <p:nvSpPr>
          <p:cNvPr id="24" name="">
            <a:extLst xmlns:a="http://schemas.openxmlformats.org/drawingml/2006/main">
              <a:ext uri="{FF2B5EF4-FFF2-40B4-BE49-F238E27FC236}">
                <a16:creationId xmlns:a16="http://schemas.microsoft.com/office/drawing/2014/main" id="{B4D9A49B-E932-41B6-B2D5-E5EE49F1494D}"/>
              </a:ext>
            </a:extLst>
          </p:cNvPr>
          <p:cNvSpPr>
            <a:spLocks xmlns:a="http://schemas.openxmlformats.org/drawingml/2006/main" noGrp="1"/>
          </p:cNvSpPr>
          <p:nvPr/>
        </p:nvSpPr>
        <p:spPr>
          <a:xfrm xmlns:a="http://schemas.openxmlformats.org/drawingml/2006/main">
            <a:off x="3143250" y="4686300"/>
            <a:ext cx="2190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Engineering depth and complex systems capability</a:t>
            </a:r>
          </a:p>
        </p:txBody>
      </p:sp>
      <p:sp>
        <p:nvSpPr>
          <p:cNvPr id="25" name="">
            <a:extLst xmlns:a="http://schemas.openxmlformats.org/drawingml/2006/main">
              <a:ext uri="{FF2B5EF4-FFF2-40B4-BE49-F238E27FC236}">
                <a16:creationId xmlns:a16="http://schemas.microsoft.com/office/drawing/2014/main" id="{F67950C3-954D-449A-BB81-506FE2D97330}"/>
              </a:ext>
            </a:extLst>
          </p:cNvPr>
          <p:cNvSpPr>
            <a:spLocks xmlns:a="http://schemas.openxmlformats.org/drawingml/2006/main" noGrp="1"/>
          </p:cNvSpPr>
          <p:nvPr/>
        </p:nvSpPr>
        <p:spPr>
          <a:xfrm xmlns:a="http://schemas.openxmlformats.org/drawingml/2006/main">
            <a:off x="5810250" y="4686300"/>
            <a:ext cx="233362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Defence-adjacent demand is growing, but must be framed carefully</a:t>
            </a:r>
          </a:p>
        </p:txBody>
      </p:sp>
      <p:sp>
        <p:nvSpPr>
          <p:cNvPr id="26" name="">
            <a:extLst xmlns:a="http://schemas.openxmlformats.org/drawingml/2006/main">
              <a:ext uri="{FF2B5EF4-FFF2-40B4-BE49-F238E27FC236}">
                <a16:creationId xmlns:a16="http://schemas.microsoft.com/office/drawing/2014/main" id="{0E5BE163-D66E-4722-A46D-44EE5C6A6A65}"/>
              </a:ext>
            </a:extLst>
          </p:cNvPr>
          <p:cNvSpPr>
            <a:spLocks xmlns:a="http://schemas.openxmlformats.org/drawingml/2006/main" noGrp="1"/>
          </p:cNvSpPr>
          <p:nvPr/>
        </p:nvSpPr>
        <p:spPr>
          <a:xfrm xmlns:a="http://schemas.openxmlformats.org/drawingml/2006/main">
            <a:off x="8572500" y="4686300"/>
            <a:ext cx="2238375"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57066"/>
                </a:solidFill>
                <a:latin typeface="Aptos"/>
                <a:ea typeface="Aptos"/>
                <a:cs typeface="Aptos"/>
              </a:defRPr>
            </a:pPr>
            <a:r>
              <a:rPr sz="938" b="0">
                <a:solidFill>
                  <a:srgbClr val="657066"/>
                </a:solidFill>
                <a:latin typeface="Aptos"/>
                <a:ea typeface="Aptos"/>
                <a:cs typeface="Aptos"/>
              </a:rPr>
              <a:t>Open doors with a broad resilience frame before narrowing to sensitive cases</a:t>
            </a:r>
          </a:p>
        </p:txBody>
      </p:sp>
      <p:sp>
        <p:nvSpPr>
          <p:cNvPr id="27" name="">
            <a:extLst xmlns:a="http://schemas.openxmlformats.org/drawingml/2006/main">
              <a:ext uri="{FF2B5EF4-FFF2-40B4-BE49-F238E27FC236}">
                <a16:creationId xmlns:a16="http://schemas.microsoft.com/office/drawing/2014/main" id="{68DEE55C-E5E9-43D4-9FF1-52130A641203}"/>
              </a:ext>
            </a:extLst>
          </p:cNvPr>
          <p:cNvSpPr>
            <a:spLocks xmlns:a="http://schemas.openxmlformats.org/drawingml/2006/main" noGrp="1"/>
          </p:cNvSpPr>
          <p:nvPr/>
        </p:nvSpPr>
        <p:spPr>
          <a:xfrm xmlns:a="http://schemas.openxmlformats.org/drawingml/2006/main">
            <a:off x="666750" y="5410200"/>
            <a:ext cx="10144125"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CB8789A-4CF0-4561-8244-FB920916AC17}"/>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DFD1882-FFA1-4AF9-AD75-410D940F7AC4}"/>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Working shortlist from NORC brief; to be tested with Team Neusta in the meeting</a:t>
            </a:r>
          </a:p>
        </p:txBody>
      </p:sp>
      <p:sp>
        <p:nvSpPr>
          <p:cNvPr id="30" name="">
            <a:extLst xmlns:a="http://schemas.openxmlformats.org/drawingml/2006/main">
              <a:ext uri="{FF2B5EF4-FFF2-40B4-BE49-F238E27FC236}">
                <a16:creationId xmlns:a16="http://schemas.microsoft.com/office/drawing/2014/main" id="{78E64ECE-91F2-43F3-85FD-FF77394FF272}"/>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05</a:t>
            </a:r>
          </a:p>
        </p:txBody>
      </p:sp>
    </p:spTree>
    <p:extLst>
      <p:ext uri="{BB962C8B-B14F-4D97-AF65-F5344CB8AC3E}">
        <p14:creationId xmlns:p14="http://schemas.microsoft.com/office/powerpoint/2010/main" val="8557856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07BE70-5CCB-4024-BCE0-B7F7CBE9840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42E5565-8FC9-4118-8357-72B5CBFA85C8}"/>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F004365-7665-4FB2-98C0-62DFCA341A72}"/>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GTM LOOP</a:t>
            </a:r>
          </a:p>
        </p:txBody>
      </p:sp>
      <p:sp>
        <p:nvSpPr>
          <p:cNvPr id="4" name="">
            <a:extLst xmlns:a="http://schemas.openxmlformats.org/drawingml/2006/main">
              <a:ext uri="{FF2B5EF4-FFF2-40B4-BE49-F238E27FC236}">
                <a16:creationId xmlns:a16="http://schemas.microsoft.com/office/drawing/2014/main" id="{7EA7C4F8-4AB6-4D9D-A419-E93B3640D4AB}"/>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A serious Nordic entry loop learns before it scales.</a:t>
            </a:r>
          </a:p>
        </p:txBody>
      </p:sp>
      <p:sp>
        <p:nvSpPr>
          <p:cNvPr id="5" name="">
            <a:extLst xmlns:a="http://schemas.openxmlformats.org/drawingml/2006/main">
              <a:ext uri="{FF2B5EF4-FFF2-40B4-BE49-F238E27FC236}">
                <a16:creationId xmlns:a16="http://schemas.microsoft.com/office/drawing/2014/main" id="{2E87741B-B6ED-46AE-B3EE-54A3308E87EB}"/>
              </a:ext>
            </a:extLst>
          </p:cNvPr>
          <p:cNvSpPr>
            <a:spLocks xmlns:a="http://schemas.openxmlformats.org/drawingml/2006/main" noGrp="1"/>
          </p:cNvSpPr>
          <p:nvPr/>
        </p:nvSpPr>
        <p:spPr>
          <a:xfrm xmlns:a="http://schemas.openxmlformats.org/drawingml/2006/main">
            <a:off x="1104900" y="2400300"/>
            <a:ext cx="2476500" cy="121920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5FD7359-8200-4970-82DB-3F31AA5C19E3}"/>
              </a:ext>
            </a:extLst>
          </p:cNvPr>
          <p:cNvSpPr>
            <a:spLocks xmlns:a="http://schemas.openxmlformats.org/drawingml/2006/main" noGrp="1"/>
          </p:cNvSpPr>
          <p:nvPr/>
        </p:nvSpPr>
        <p:spPr>
          <a:xfrm xmlns:a="http://schemas.openxmlformats.org/drawingml/2006/main">
            <a:off x="1276350" y="255270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56A3A"/>
                </a:solidFill>
                <a:latin typeface="Aptos Mono"/>
                <a:ea typeface="Aptos Mono"/>
                <a:cs typeface="Aptos Mono"/>
              </a:defRPr>
            </a:pPr>
            <a:r>
              <a:rPr sz="1800" b="1">
                <a:solidFill>
                  <a:srgbClr val="B56A3A"/>
                </a:solidFill>
                <a:latin typeface="Aptos Mono"/>
                <a:ea typeface="Aptos Mono"/>
                <a:cs typeface="Aptos Mono"/>
              </a:rPr>
              <a:t>1</a:t>
            </a:r>
          </a:p>
        </p:txBody>
      </p:sp>
      <p:sp>
        <p:nvSpPr>
          <p:cNvPr id="7" name="">
            <a:extLst xmlns:a="http://schemas.openxmlformats.org/drawingml/2006/main">
              <a:ext uri="{FF2B5EF4-FFF2-40B4-BE49-F238E27FC236}">
                <a16:creationId xmlns:a16="http://schemas.microsoft.com/office/drawing/2014/main" id="{CBD1138D-7381-4D9A-A20D-9F69A1B2E05E}"/>
              </a:ext>
            </a:extLst>
          </p:cNvPr>
          <p:cNvSpPr>
            <a:spLocks xmlns:a="http://schemas.openxmlformats.org/drawingml/2006/main" noGrp="1"/>
          </p:cNvSpPr>
          <p:nvPr/>
        </p:nvSpPr>
        <p:spPr>
          <a:xfrm xmlns:a="http://schemas.openxmlformats.org/drawingml/2006/main">
            <a:off x="1752600" y="25908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a:ea typeface="Aptos"/>
                <a:cs typeface="Aptos"/>
              </a:defRPr>
            </a:pPr>
            <a:r>
              <a:rPr sz="1275" b="1">
                <a:solidFill>
                  <a:srgbClr val="17211C"/>
                </a:solidFill>
                <a:latin typeface="Aptos"/>
                <a:ea typeface="Aptos"/>
                <a:cs typeface="Aptos"/>
              </a:rPr>
              <a:t>Market hypothesis</a:t>
            </a:r>
          </a:p>
        </p:txBody>
      </p:sp>
      <p:sp>
        <p:nvSpPr>
          <p:cNvPr id="8" name="">
            <a:extLst xmlns:a="http://schemas.openxmlformats.org/drawingml/2006/main">
              <a:ext uri="{FF2B5EF4-FFF2-40B4-BE49-F238E27FC236}">
                <a16:creationId xmlns:a16="http://schemas.microsoft.com/office/drawing/2014/main" id="{7B42016E-2951-4FF2-A4EE-ACFB7EB2AC44}"/>
              </a:ext>
            </a:extLst>
          </p:cNvPr>
          <p:cNvSpPr>
            <a:spLocks xmlns:a="http://schemas.openxmlformats.org/drawingml/2006/main" noGrp="1"/>
          </p:cNvSpPr>
          <p:nvPr/>
        </p:nvSpPr>
        <p:spPr>
          <a:xfrm xmlns:a="http://schemas.openxmlformats.org/drawingml/2006/main">
            <a:off x="1752600" y="2933700"/>
            <a:ext cx="1571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66"/>
                </a:solidFill>
                <a:latin typeface="Aptos"/>
                <a:ea typeface="Aptos"/>
                <a:cs typeface="Aptos"/>
              </a:defRPr>
            </a:pPr>
            <a:r>
              <a:rPr sz="863" b="0">
                <a:solidFill>
                  <a:srgbClr val="657066"/>
                </a:solidFill>
                <a:latin typeface="Aptos"/>
                <a:ea typeface="Aptos"/>
                <a:cs typeface="Aptos"/>
              </a:rPr>
              <a:t>Countries, sectors, offer tracks and buyer assumptions</a:t>
            </a:r>
          </a:p>
        </p:txBody>
      </p:sp>
      <p:sp>
        <p:nvSpPr>
          <p:cNvPr id="9" name="">
            <a:extLst xmlns:a="http://schemas.openxmlformats.org/drawingml/2006/main">
              <a:ext uri="{FF2B5EF4-FFF2-40B4-BE49-F238E27FC236}">
                <a16:creationId xmlns:a16="http://schemas.microsoft.com/office/drawing/2014/main" id="{73C2F4E2-6C46-4BB8-8972-7356374B805C}"/>
              </a:ext>
            </a:extLst>
          </p:cNvPr>
          <p:cNvSpPr>
            <a:spLocks xmlns:a="http://schemas.openxmlformats.org/drawingml/2006/main" noGrp="1"/>
          </p:cNvSpPr>
          <p:nvPr/>
        </p:nvSpPr>
        <p:spPr>
          <a:xfrm xmlns:a="http://schemas.openxmlformats.org/drawingml/2006/main">
            <a:off x="4248150" y="1809750"/>
            <a:ext cx="2476500" cy="121920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75AC936-1B30-40DF-853C-190A366A0063}"/>
              </a:ext>
            </a:extLst>
          </p:cNvPr>
          <p:cNvSpPr>
            <a:spLocks xmlns:a="http://schemas.openxmlformats.org/drawingml/2006/main" noGrp="1"/>
          </p:cNvSpPr>
          <p:nvPr/>
        </p:nvSpPr>
        <p:spPr>
          <a:xfrm xmlns:a="http://schemas.openxmlformats.org/drawingml/2006/main">
            <a:off x="4419600" y="196215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56A3A"/>
                </a:solidFill>
                <a:latin typeface="Aptos Mono"/>
                <a:ea typeface="Aptos Mono"/>
                <a:cs typeface="Aptos Mono"/>
              </a:defRPr>
            </a:pPr>
            <a:r>
              <a:rPr sz="1800" b="1">
                <a:solidFill>
                  <a:srgbClr val="B56A3A"/>
                </a:solidFill>
                <a:latin typeface="Aptos Mono"/>
                <a:ea typeface="Aptos Mono"/>
                <a:cs typeface="Aptos Mono"/>
              </a:rPr>
              <a:t>2</a:t>
            </a:r>
          </a:p>
        </p:txBody>
      </p:sp>
      <p:sp>
        <p:nvSpPr>
          <p:cNvPr id="11" name="">
            <a:extLst xmlns:a="http://schemas.openxmlformats.org/drawingml/2006/main">
              <a:ext uri="{FF2B5EF4-FFF2-40B4-BE49-F238E27FC236}">
                <a16:creationId xmlns:a16="http://schemas.microsoft.com/office/drawing/2014/main" id="{369084AD-9377-4A35-9AD4-F837E113A038}"/>
              </a:ext>
            </a:extLst>
          </p:cNvPr>
          <p:cNvSpPr>
            <a:spLocks xmlns:a="http://schemas.openxmlformats.org/drawingml/2006/main" noGrp="1"/>
          </p:cNvSpPr>
          <p:nvPr/>
        </p:nvSpPr>
        <p:spPr>
          <a:xfrm xmlns:a="http://schemas.openxmlformats.org/drawingml/2006/main">
            <a:off x="4895850" y="200025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a:ea typeface="Aptos"/>
                <a:cs typeface="Aptos"/>
              </a:defRPr>
            </a:pPr>
            <a:r>
              <a:rPr sz="1275" b="1">
                <a:solidFill>
                  <a:srgbClr val="17211C"/>
                </a:solidFill>
                <a:latin typeface="Aptos"/>
                <a:ea typeface="Aptos"/>
                <a:cs typeface="Aptos"/>
              </a:rPr>
              <a:t>Nordic positioning</a:t>
            </a:r>
          </a:p>
        </p:txBody>
      </p:sp>
      <p:sp>
        <p:nvSpPr>
          <p:cNvPr id="12" name="">
            <a:extLst xmlns:a="http://schemas.openxmlformats.org/drawingml/2006/main">
              <a:ext uri="{FF2B5EF4-FFF2-40B4-BE49-F238E27FC236}">
                <a16:creationId xmlns:a16="http://schemas.microsoft.com/office/drawing/2014/main" id="{E5093E7E-32B6-47C3-8EC1-C5EC9546A7EF}"/>
              </a:ext>
            </a:extLst>
          </p:cNvPr>
          <p:cNvSpPr>
            <a:spLocks xmlns:a="http://schemas.openxmlformats.org/drawingml/2006/main" noGrp="1"/>
          </p:cNvSpPr>
          <p:nvPr/>
        </p:nvSpPr>
        <p:spPr>
          <a:xfrm xmlns:a="http://schemas.openxmlformats.org/drawingml/2006/main">
            <a:off x="4895850" y="2343150"/>
            <a:ext cx="1571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66"/>
                </a:solidFill>
                <a:latin typeface="Aptos"/>
                <a:ea typeface="Aptos"/>
                <a:cs typeface="Aptos"/>
              </a:defRPr>
            </a:pPr>
            <a:r>
              <a:rPr sz="863" b="0">
                <a:solidFill>
                  <a:srgbClr val="657066"/>
                </a:solidFill>
                <a:latin typeface="Aptos"/>
                <a:ea typeface="Aptos"/>
                <a:cs typeface="Aptos"/>
              </a:rPr>
              <a:t>Value proposition, proof needs and message hierarchy</a:t>
            </a:r>
          </a:p>
        </p:txBody>
      </p:sp>
      <p:sp>
        <p:nvSpPr>
          <p:cNvPr id="13" name="">
            <a:extLst xmlns:a="http://schemas.openxmlformats.org/drawingml/2006/main">
              <a:ext uri="{FF2B5EF4-FFF2-40B4-BE49-F238E27FC236}">
                <a16:creationId xmlns:a16="http://schemas.microsoft.com/office/drawing/2014/main" id="{1E5605F5-0E9A-40DA-91B4-C755B083E625}"/>
              </a:ext>
            </a:extLst>
          </p:cNvPr>
          <p:cNvSpPr>
            <a:spLocks xmlns:a="http://schemas.openxmlformats.org/drawingml/2006/main" noGrp="1"/>
          </p:cNvSpPr>
          <p:nvPr/>
        </p:nvSpPr>
        <p:spPr>
          <a:xfrm xmlns:a="http://schemas.openxmlformats.org/drawingml/2006/main">
            <a:off x="7429500" y="2400300"/>
            <a:ext cx="2476500" cy="121920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F7A0F95-3140-4A66-9DBF-6B76BF6AC011}"/>
              </a:ext>
            </a:extLst>
          </p:cNvPr>
          <p:cNvSpPr>
            <a:spLocks xmlns:a="http://schemas.openxmlformats.org/drawingml/2006/main" noGrp="1"/>
          </p:cNvSpPr>
          <p:nvPr/>
        </p:nvSpPr>
        <p:spPr>
          <a:xfrm xmlns:a="http://schemas.openxmlformats.org/drawingml/2006/main">
            <a:off x="7600950" y="255270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56A3A"/>
                </a:solidFill>
                <a:latin typeface="Aptos Mono"/>
                <a:ea typeface="Aptos Mono"/>
                <a:cs typeface="Aptos Mono"/>
              </a:defRPr>
            </a:pPr>
            <a:r>
              <a:rPr sz="1800" b="1">
                <a:solidFill>
                  <a:srgbClr val="B56A3A"/>
                </a:solidFill>
                <a:latin typeface="Aptos Mono"/>
                <a:ea typeface="Aptos Mono"/>
                <a:cs typeface="Aptos Mono"/>
              </a:rPr>
              <a:t>3</a:t>
            </a:r>
          </a:p>
        </p:txBody>
      </p:sp>
      <p:sp>
        <p:nvSpPr>
          <p:cNvPr id="15" name="">
            <a:extLst xmlns:a="http://schemas.openxmlformats.org/drawingml/2006/main">
              <a:ext uri="{FF2B5EF4-FFF2-40B4-BE49-F238E27FC236}">
                <a16:creationId xmlns:a16="http://schemas.microsoft.com/office/drawing/2014/main" id="{2853F044-8A78-4408-B7F0-57A5ACF225C2}"/>
              </a:ext>
            </a:extLst>
          </p:cNvPr>
          <p:cNvSpPr>
            <a:spLocks xmlns:a="http://schemas.openxmlformats.org/drawingml/2006/main" noGrp="1"/>
          </p:cNvSpPr>
          <p:nvPr/>
        </p:nvSpPr>
        <p:spPr>
          <a:xfrm xmlns:a="http://schemas.openxmlformats.org/drawingml/2006/main">
            <a:off x="8077200" y="25908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a:ea typeface="Aptos"/>
                <a:cs typeface="Aptos"/>
              </a:defRPr>
            </a:pPr>
            <a:r>
              <a:rPr sz="1275" b="1">
                <a:solidFill>
                  <a:srgbClr val="17211C"/>
                </a:solidFill>
                <a:latin typeface="Aptos"/>
                <a:ea typeface="Aptos"/>
                <a:cs typeface="Aptos"/>
              </a:rPr>
              <a:t>First conversations</a:t>
            </a:r>
          </a:p>
        </p:txBody>
      </p:sp>
      <p:sp>
        <p:nvSpPr>
          <p:cNvPr id="16" name="">
            <a:extLst xmlns:a="http://schemas.openxmlformats.org/drawingml/2006/main">
              <a:ext uri="{FF2B5EF4-FFF2-40B4-BE49-F238E27FC236}">
                <a16:creationId xmlns:a16="http://schemas.microsoft.com/office/drawing/2014/main" id="{510A8124-42C8-4085-BB85-848B6A406391}"/>
              </a:ext>
            </a:extLst>
          </p:cNvPr>
          <p:cNvSpPr>
            <a:spLocks xmlns:a="http://schemas.openxmlformats.org/drawingml/2006/main" noGrp="1"/>
          </p:cNvSpPr>
          <p:nvPr/>
        </p:nvSpPr>
        <p:spPr>
          <a:xfrm xmlns:a="http://schemas.openxmlformats.org/drawingml/2006/main">
            <a:off x="8077200" y="2933700"/>
            <a:ext cx="1571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66"/>
                </a:solidFill>
                <a:latin typeface="Aptos"/>
                <a:ea typeface="Aptos"/>
                <a:cs typeface="Aptos"/>
              </a:defRPr>
            </a:pPr>
            <a:r>
              <a:rPr sz="863" b="0">
                <a:solidFill>
                  <a:srgbClr val="657066"/>
                </a:solidFill>
                <a:latin typeface="Aptos"/>
                <a:ea typeface="Aptos"/>
                <a:cs typeface="Aptos"/>
              </a:rPr>
              <a:t>Targeted meetings with selected sectors and trusted contexts</a:t>
            </a:r>
          </a:p>
        </p:txBody>
      </p:sp>
      <p:sp>
        <p:nvSpPr>
          <p:cNvPr id="17" name="">
            <a:extLst xmlns:a="http://schemas.openxmlformats.org/drawingml/2006/main">
              <a:ext uri="{FF2B5EF4-FFF2-40B4-BE49-F238E27FC236}">
                <a16:creationId xmlns:a16="http://schemas.microsoft.com/office/drawing/2014/main" id="{BE4B9731-BA43-421E-AAE4-DC17BD6F3C21}"/>
              </a:ext>
            </a:extLst>
          </p:cNvPr>
          <p:cNvSpPr>
            <a:spLocks xmlns:a="http://schemas.openxmlformats.org/drawingml/2006/main" noGrp="1"/>
          </p:cNvSpPr>
          <p:nvPr/>
        </p:nvSpPr>
        <p:spPr>
          <a:xfrm xmlns:a="http://schemas.openxmlformats.org/drawingml/2006/main">
            <a:off x="5753100" y="4114800"/>
            <a:ext cx="2476500" cy="1219200"/>
          </a:xfrm>
          <a:prstGeom xmlns:a="http://schemas.openxmlformats.org/drawingml/2006/main" prst="rect">
            <a:avLst/>
          </a:prstGeom>
          <a:solidFill xmlns:a="http://schemas.openxmlformats.org/drawingml/2006/main">
            <a:srgbClr val="202824"/>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13EBEAF6-6445-4410-9BE5-C8ADDBCFFDB5}"/>
              </a:ext>
            </a:extLst>
          </p:cNvPr>
          <p:cNvSpPr>
            <a:spLocks xmlns:a="http://schemas.openxmlformats.org/drawingml/2006/main" noGrp="1"/>
          </p:cNvSpPr>
          <p:nvPr/>
        </p:nvSpPr>
        <p:spPr>
          <a:xfrm xmlns:a="http://schemas.openxmlformats.org/drawingml/2006/main">
            <a:off x="5924550" y="4267200"/>
            <a:ext cx="3619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8CB9C7"/>
                </a:solidFill>
                <a:latin typeface="Aptos Mono"/>
                <a:ea typeface="Aptos Mono"/>
                <a:cs typeface="Aptos Mono"/>
              </a:defRPr>
            </a:pPr>
            <a:r>
              <a:rPr sz="1800" b="1">
                <a:solidFill>
                  <a:srgbClr val="8CB9C7"/>
                </a:solidFill>
                <a:latin typeface="Aptos Mono"/>
                <a:ea typeface="Aptos Mono"/>
                <a:cs typeface="Aptos Mono"/>
              </a:rPr>
              <a:t>4</a:t>
            </a:r>
          </a:p>
        </p:txBody>
      </p:sp>
      <p:sp>
        <p:nvSpPr>
          <p:cNvPr id="19" name="">
            <a:extLst xmlns:a="http://schemas.openxmlformats.org/drawingml/2006/main">
              <a:ext uri="{FF2B5EF4-FFF2-40B4-BE49-F238E27FC236}">
                <a16:creationId xmlns:a16="http://schemas.microsoft.com/office/drawing/2014/main" id="{4623449B-37D1-4E4D-91F6-B3C14BF275E8}"/>
              </a:ext>
            </a:extLst>
          </p:cNvPr>
          <p:cNvSpPr>
            <a:spLocks xmlns:a="http://schemas.openxmlformats.org/drawingml/2006/main" noGrp="1"/>
          </p:cNvSpPr>
          <p:nvPr/>
        </p:nvSpPr>
        <p:spPr>
          <a:xfrm xmlns:a="http://schemas.openxmlformats.org/drawingml/2006/main">
            <a:off x="6400800" y="4305300"/>
            <a:ext cx="1619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Feedback and proof</a:t>
            </a:r>
          </a:p>
        </p:txBody>
      </p:sp>
      <p:sp>
        <p:nvSpPr>
          <p:cNvPr id="20" name="">
            <a:extLst xmlns:a="http://schemas.openxmlformats.org/drawingml/2006/main">
              <a:ext uri="{FF2B5EF4-FFF2-40B4-BE49-F238E27FC236}">
                <a16:creationId xmlns:a16="http://schemas.microsoft.com/office/drawing/2014/main" id="{A7C097C1-DA6F-426F-8070-87536E26B5D2}"/>
              </a:ext>
            </a:extLst>
          </p:cNvPr>
          <p:cNvSpPr>
            <a:spLocks xmlns:a="http://schemas.openxmlformats.org/drawingml/2006/main" noGrp="1"/>
          </p:cNvSpPr>
          <p:nvPr/>
        </p:nvSpPr>
        <p:spPr>
          <a:xfrm xmlns:a="http://schemas.openxmlformats.org/drawingml/2006/main">
            <a:off x="6400800" y="4648200"/>
            <a:ext cx="1571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DDD9"/>
                </a:solidFill>
                <a:latin typeface="Aptos"/>
                <a:ea typeface="Aptos"/>
                <a:cs typeface="Aptos"/>
              </a:defRPr>
            </a:pPr>
            <a:r>
              <a:rPr sz="863" b="0">
                <a:solidFill>
                  <a:srgbClr val="D7DDD9"/>
                </a:solidFill>
                <a:latin typeface="Aptos"/>
                <a:ea typeface="Aptos"/>
                <a:cs typeface="Aptos"/>
              </a:rPr>
              <a:t>Refine narrative, assets, commercial model and next account list</a:t>
            </a:r>
          </a:p>
        </p:txBody>
      </p:sp>
      <p:sp>
        <p:nvSpPr>
          <p:cNvPr id="21" name="">
            <a:extLst xmlns:a="http://schemas.openxmlformats.org/drawingml/2006/main">
              <a:ext uri="{FF2B5EF4-FFF2-40B4-BE49-F238E27FC236}">
                <a16:creationId xmlns:a16="http://schemas.microsoft.com/office/drawing/2014/main" id="{EDA579B7-99B4-4BFF-BD58-43C56770FF29}"/>
              </a:ext>
            </a:extLst>
          </p:cNvPr>
          <p:cNvSpPr>
            <a:spLocks xmlns:a="http://schemas.openxmlformats.org/drawingml/2006/main" noGrp="1"/>
          </p:cNvSpPr>
          <p:nvPr/>
        </p:nvSpPr>
        <p:spPr>
          <a:xfrm xmlns:a="http://schemas.openxmlformats.org/drawingml/2006/main">
            <a:off x="3581400" y="2990850"/>
            <a:ext cx="55245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B374B88-919A-4B16-AB38-46004B3FB3F1}"/>
              </a:ext>
            </a:extLst>
          </p:cNvPr>
          <p:cNvSpPr>
            <a:spLocks xmlns:a="http://schemas.openxmlformats.org/drawingml/2006/main" noGrp="1"/>
          </p:cNvSpPr>
          <p:nvPr/>
        </p:nvSpPr>
        <p:spPr>
          <a:xfrm xmlns:a="http://schemas.openxmlformats.org/drawingml/2006/main">
            <a:off x="4057650" y="2952750"/>
            <a:ext cx="76200" cy="76200"/>
          </a:xfrm>
          <a:prstGeom xmlns:a="http://schemas.openxmlformats.org/drawingml/2006/main" prst="triangle">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1F380D6-5CA2-4FFA-9265-6A8FA26C0293}"/>
              </a:ext>
            </a:extLst>
          </p:cNvPr>
          <p:cNvSpPr>
            <a:spLocks xmlns:a="http://schemas.openxmlformats.org/drawingml/2006/main" noGrp="1"/>
          </p:cNvSpPr>
          <p:nvPr/>
        </p:nvSpPr>
        <p:spPr>
          <a:xfrm xmlns:a="http://schemas.openxmlformats.org/drawingml/2006/main">
            <a:off x="6743700" y="2400300"/>
            <a:ext cx="55245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5B66619-114C-4C9E-B22B-CAB835B7CA78}"/>
              </a:ext>
            </a:extLst>
          </p:cNvPr>
          <p:cNvSpPr>
            <a:spLocks xmlns:a="http://schemas.openxmlformats.org/drawingml/2006/main" noGrp="1"/>
          </p:cNvSpPr>
          <p:nvPr/>
        </p:nvSpPr>
        <p:spPr>
          <a:xfrm xmlns:a="http://schemas.openxmlformats.org/drawingml/2006/main">
            <a:off x="7219950" y="2362200"/>
            <a:ext cx="76200" cy="76200"/>
          </a:xfrm>
          <a:prstGeom xmlns:a="http://schemas.openxmlformats.org/drawingml/2006/main" prst="triangle">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30043B5-BB71-423E-A223-62B7423C141F}"/>
              </a:ext>
            </a:extLst>
          </p:cNvPr>
          <p:cNvSpPr>
            <a:spLocks xmlns:a="http://schemas.openxmlformats.org/drawingml/2006/main" noGrp="1"/>
          </p:cNvSpPr>
          <p:nvPr/>
        </p:nvSpPr>
        <p:spPr>
          <a:xfrm xmlns:a="http://schemas.openxmlformats.org/drawingml/2006/main">
            <a:off x="8496300" y="3733800"/>
            <a:ext cx="9525"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E04A85A-40C6-48C3-9C13-C76AD977B783}"/>
              </a:ext>
            </a:extLst>
          </p:cNvPr>
          <p:cNvSpPr>
            <a:spLocks xmlns:a="http://schemas.openxmlformats.org/drawingml/2006/main" noGrp="1"/>
          </p:cNvSpPr>
          <p:nvPr/>
        </p:nvSpPr>
        <p:spPr>
          <a:xfrm xmlns:a="http://schemas.openxmlformats.org/drawingml/2006/main">
            <a:off x="8429625" y="3695700"/>
            <a:ext cx="76200" cy="76200"/>
          </a:xfrm>
          <a:prstGeom xmlns:a="http://schemas.openxmlformats.org/drawingml/2006/main" prst="triangle">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0A0CB29-CFBE-4BF6-81A5-A17D7601EC1E}"/>
              </a:ext>
            </a:extLst>
          </p:cNvPr>
          <p:cNvSpPr>
            <a:spLocks xmlns:a="http://schemas.openxmlformats.org/drawingml/2006/main" noGrp="1"/>
          </p:cNvSpPr>
          <p:nvPr/>
        </p:nvSpPr>
        <p:spPr>
          <a:xfrm xmlns:a="http://schemas.openxmlformats.org/drawingml/2006/main">
            <a:off x="8486775" y="3733800"/>
            <a:ext cx="19050" cy="38100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EDBBE640-DDE7-43CC-B9A0-21756393EBFA}"/>
              </a:ext>
            </a:extLst>
          </p:cNvPr>
          <p:cNvSpPr>
            <a:spLocks xmlns:a="http://schemas.openxmlformats.org/drawingml/2006/main" noGrp="1"/>
          </p:cNvSpPr>
          <p:nvPr/>
        </p:nvSpPr>
        <p:spPr>
          <a:xfrm xmlns:a="http://schemas.openxmlformats.org/drawingml/2006/main">
            <a:off x="3790950" y="4724400"/>
            <a:ext cx="196215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B0D718B-3647-45B7-8A44-713F3083D1CE}"/>
              </a:ext>
            </a:extLst>
          </p:cNvPr>
          <p:cNvSpPr>
            <a:spLocks xmlns:a="http://schemas.openxmlformats.org/drawingml/2006/main" noGrp="1"/>
          </p:cNvSpPr>
          <p:nvPr/>
        </p:nvSpPr>
        <p:spPr>
          <a:xfrm xmlns:a="http://schemas.openxmlformats.org/drawingml/2006/main">
            <a:off x="1466850" y="5676900"/>
            <a:ext cx="8191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184A3B"/>
                </a:solidFill>
                <a:latin typeface="Aptos Display"/>
                <a:ea typeface="Aptos Display"/>
                <a:cs typeface="Aptos Display"/>
              </a:defRPr>
            </a:pPr>
            <a:r>
              <a:rPr sz="1650" b="1">
                <a:solidFill>
                  <a:srgbClr val="184A3B"/>
                </a:solidFill>
                <a:latin typeface="Aptos Display"/>
                <a:ea typeface="Aptos Display"/>
                <a:cs typeface="Aptos Display"/>
              </a:rPr>
              <a:t>Do not scale outreach until the story has survived real Nordic reactions.</a:t>
            </a:r>
          </a:p>
        </p:txBody>
      </p:sp>
      <p:sp>
        <p:nvSpPr>
          <p:cNvPr id="30" name="">
            <a:extLst xmlns:a="http://schemas.openxmlformats.org/drawingml/2006/main">
              <a:ext uri="{FF2B5EF4-FFF2-40B4-BE49-F238E27FC236}">
                <a16:creationId xmlns:a16="http://schemas.microsoft.com/office/drawing/2014/main" id="{0B7E4818-F97C-41C4-846F-7815105310FA}"/>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9BD151C4-89D0-4C31-BA4F-C1A74A2E6CD6}"/>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32" name="">
            <a:extLst xmlns:a="http://schemas.openxmlformats.org/drawingml/2006/main">
              <a:ext uri="{FF2B5EF4-FFF2-40B4-BE49-F238E27FC236}">
                <a16:creationId xmlns:a16="http://schemas.microsoft.com/office/drawing/2014/main" id="{25CFF1D1-AD97-4A5A-9F3A-6B40DD3C54B9}"/>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06</a:t>
            </a:r>
          </a:p>
        </p:txBody>
      </p:sp>
    </p:spTree>
    <p:extLst>
      <p:ext uri="{BB962C8B-B14F-4D97-AF65-F5344CB8AC3E}">
        <p14:creationId xmlns:p14="http://schemas.microsoft.com/office/powerpoint/2010/main" val="147064159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2EBDDB-8585-4950-A613-393A62268B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91AA2A1-39F0-4B1C-B08A-A691B97C1EBC}"/>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303D74-5B82-4109-AF89-89CBF568270B}"/>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COMMERCIAL MODEL</a:t>
            </a:r>
          </a:p>
        </p:txBody>
      </p:sp>
      <p:sp>
        <p:nvSpPr>
          <p:cNvPr id="4" name="">
            <a:extLst xmlns:a="http://schemas.openxmlformats.org/drawingml/2006/main">
              <a:ext uri="{FF2B5EF4-FFF2-40B4-BE49-F238E27FC236}">
                <a16:creationId xmlns:a16="http://schemas.microsoft.com/office/drawing/2014/main" id="{ACC0A75A-EBE5-4639-9536-572DE370E7FE}"/>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A fair model combines paid strategy work with upside when the market starts moving.</a:t>
            </a:r>
          </a:p>
        </p:txBody>
      </p:sp>
      <p:sp>
        <p:nvSpPr>
          <p:cNvPr id="5" name="">
            <a:extLst xmlns:a="http://schemas.openxmlformats.org/drawingml/2006/main">
              <a:ext uri="{FF2B5EF4-FFF2-40B4-BE49-F238E27FC236}">
                <a16:creationId xmlns:a16="http://schemas.microsoft.com/office/drawing/2014/main" id="{81543DE2-CC02-4A09-98B5-B1040FCC60F1}"/>
              </a:ext>
            </a:extLst>
          </p:cNvPr>
          <p:cNvSpPr>
            <a:spLocks xmlns:a="http://schemas.openxmlformats.org/drawingml/2006/main" noGrp="1"/>
          </p:cNvSpPr>
          <p:nvPr/>
        </p:nvSpPr>
        <p:spPr>
          <a:xfrm xmlns:a="http://schemas.openxmlformats.org/drawingml/2006/main">
            <a:off x="742950" y="3143250"/>
            <a:ext cx="2190750" cy="1809750"/>
          </a:xfrm>
          <a:prstGeom xmlns:a="http://schemas.openxmlformats.org/drawingml/2006/main" prst="rect">
            <a:avLst/>
          </a:prstGeom>
          <a:solidFill xmlns:a="http://schemas.openxmlformats.org/drawingml/2006/main">
            <a:srgbClr val="202824"/>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10FB6EA-A805-47EC-B473-876A7F11EFB7}"/>
              </a:ext>
            </a:extLst>
          </p:cNvPr>
          <p:cNvSpPr>
            <a:spLocks xmlns:a="http://schemas.openxmlformats.org/drawingml/2006/main" noGrp="1"/>
          </p:cNvSpPr>
          <p:nvPr/>
        </p:nvSpPr>
        <p:spPr>
          <a:xfrm xmlns:a="http://schemas.openxmlformats.org/drawingml/2006/main">
            <a:off x="933450" y="340995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8CB9C7"/>
                </a:solidFill>
                <a:latin typeface="Aptos Mono"/>
                <a:ea typeface="Aptos Mono"/>
                <a:cs typeface="Aptos Mono"/>
              </a:defRPr>
            </a:pPr>
            <a:r>
              <a:rPr sz="1500" b="1">
                <a:solidFill>
                  <a:srgbClr val="8CB9C7"/>
                </a:solidFill>
                <a:latin typeface="Aptos Mono"/>
                <a:ea typeface="Aptos Mono"/>
                <a:cs typeface="Aptos Mono"/>
              </a:rPr>
              <a:t>1</a:t>
            </a:r>
          </a:p>
        </p:txBody>
      </p:sp>
      <p:sp>
        <p:nvSpPr>
          <p:cNvPr id="7" name="">
            <a:extLst xmlns:a="http://schemas.openxmlformats.org/drawingml/2006/main">
              <a:ext uri="{FF2B5EF4-FFF2-40B4-BE49-F238E27FC236}">
                <a16:creationId xmlns:a16="http://schemas.microsoft.com/office/drawing/2014/main" id="{F38623C6-5296-45E9-915B-F1490C86CA0E}"/>
              </a:ext>
            </a:extLst>
          </p:cNvPr>
          <p:cNvSpPr>
            <a:spLocks xmlns:a="http://schemas.openxmlformats.org/drawingml/2006/main" noGrp="1"/>
          </p:cNvSpPr>
          <p:nvPr/>
        </p:nvSpPr>
        <p:spPr>
          <a:xfrm xmlns:a="http://schemas.openxmlformats.org/drawingml/2006/main">
            <a:off x="933450" y="3810000"/>
            <a:ext cx="16954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Paid 90-day pilot</a:t>
            </a:r>
          </a:p>
        </p:txBody>
      </p:sp>
      <p:sp>
        <p:nvSpPr>
          <p:cNvPr id="8" name="">
            <a:extLst xmlns:a="http://schemas.openxmlformats.org/drawingml/2006/main">
              <a:ext uri="{FF2B5EF4-FFF2-40B4-BE49-F238E27FC236}">
                <a16:creationId xmlns:a16="http://schemas.microsoft.com/office/drawing/2014/main" id="{2198C14B-3422-4983-A347-FF98684F3A10}"/>
              </a:ext>
            </a:extLst>
          </p:cNvPr>
          <p:cNvSpPr>
            <a:spLocks xmlns:a="http://schemas.openxmlformats.org/drawingml/2006/main" noGrp="1"/>
          </p:cNvSpPr>
          <p:nvPr/>
        </p:nvSpPr>
        <p:spPr>
          <a:xfrm xmlns:a="http://schemas.openxmlformats.org/drawingml/2006/main">
            <a:off x="933450" y="4248150"/>
            <a:ext cx="1695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DDD9"/>
                </a:solidFill>
                <a:latin typeface="Aptos"/>
                <a:ea typeface="Aptos"/>
                <a:cs typeface="Aptos"/>
              </a:defRPr>
            </a:pPr>
            <a:r>
              <a:rPr sz="863" b="0">
                <a:solidFill>
                  <a:srgbClr val="D7DDD9"/>
                </a:solidFill>
                <a:latin typeface="Aptos"/>
                <a:ea typeface="Aptos"/>
                <a:cs typeface="Aptos"/>
              </a:rPr>
              <a:t>Fixed scope: positioning, sector focus, assets and limited market testing.</a:t>
            </a:r>
          </a:p>
        </p:txBody>
      </p:sp>
      <p:sp>
        <p:nvSpPr>
          <p:cNvPr id="9" name="">
            <a:extLst xmlns:a="http://schemas.openxmlformats.org/drawingml/2006/main">
              <a:ext uri="{FF2B5EF4-FFF2-40B4-BE49-F238E27FC236}">
                <a16:creationId xmlns:a16="http://schemas.microsoft.com/office/drawing/2014/main" id="{8529700F-A337-44A7-B422-150ED1B7803D}"/>
              </a:ext>
            </a:extLst>
          </p:cNvPr>
          <p:cNvSpPr>
            <a:spLocks xmlns:a="http://schemas.openxmlformats.org/drawingml/2006/main" noGrp="1"/>
          </p:cNvSpPr>
          <p:nvPr/>
        </p:nvSpPr>
        <p:spPr>
          <a:xfrm xmlns:a="http://schemas.openxmlformats.org/drawingml/2006/main">
            <a:off x="2933700" y="4953000"/>
            <a:ext cx="55245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4E6D663-BBA6-45D1-B539-11217567EE82}"/>
              </a:ext>
            </a:extLst>
          </p:cNvPr>
          <p:cNvSpPr>
            <a:spLocks xmlns:a="http://schemas.openxmlformats.org/drawingml/2006/main" noGrp="1"/>
          </p:cNvSpPr>
          <p:nvPr/>
        </p:nvSpPr>
        <p:spPr>
          <a:xfrm xmlns:a="http://schemas.openxmlformats.org/drawingml/2006/main">
            <a:off x="3505200" y="2876550"/>
            <a:ext cx="2190750" cy="207645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05D6E52-30BA-4605-B02D-F7C0258387DD}"/>
              </a:ext>
            </a:extLst>
          </p:cNvPr>
          <p:cNvSpPr>
            <a:spLocks xmlns:a="http://schemas.openxmlformats.org/drawingml/2006/main" noGrp="1"/>
          </p:cNvSpPr>
          <p:nvPr/>
        </p:nvSpPr>
        <p:spPr>
          <a:xfrm xmlns:a="http://schemas.openxmlformats.org/drawingml/2006/main">
            <a:off x="3695700" y="314325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B56A3A"/>
                </a:solidFill>
                <a:latin typeface="Aptos Mono"/>
                <a:ea typeface="Aptos Mono"/>
                <a:cs typeface="Aptos Mono"/>
              </a:defRPr>
            </a:pPr>
            <a:r>
              <a:rPr sz="1500" b="1">
                <a:solidFill>
                  <a:srgbClr val="B56A3A"/>
                </a:solidFill>
                <a:latin typeface="Aptos Mono"/>
                <a:ea typeface="Aptos Mono"/>
                <a:cs typeface="Aptos Mono"/>
              </a:rPr>
              <a:t>2</a:t>
            </a:r>
          </a:p>
        </p:txBody>
      </p:sp>
      <p:sp>
        <p:nvSpPr>
          <p:cNvPr id="12" name="">
            <a:extLst xmlns:a="http://schemas.openxmlformats.org/drawingml/2006/main">
              <a:ext uri="{FF2B5EF4-FFF2-40B4-BE49-F238E27FC236}">
                <a16:creationId xmlns:a16="http://schemas.microsoft.com/office/drawing/2014/main" id="{C57E736F-00D6-4F79-BA1B-494D290576BA}"/>
              </a:ext>
            </a:extLst>
          </p:cNvPr>
          <p:cNvSpPr>
            <a:spLocks xmlns:a="http://schemas.openxmlformats.org/drawingml/2006/main" noGrp="1"/>
          </p:cNvSpPr>
          <p:nvPr/>
        </p:nvSpPr>
        <p:spPr>
          <a:xfrm xmlns:a="http://schemas.openxmlformats.org/drawingml/2006/main">
            <a:off x="3695700" y="3543300"/>
            <a:ext cx="16954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Retainer for market entry</a:t>
            </a:r>
          </a:p>
        </p:txBody>
      </p:sp>
      <p:sp>
        <p:nvSpPr>
          <p:cNvPr id="13" name="">
            <a:extLst xmlns:a="http://schemas.openxmlformats.org/drawingml/2006/main">
              <a:ext uri="{FF2B5EF4-FFF2-40B4-BE49-F238E27FC236}">
                <a16:creationId xmlns:a16="http://schemas.microsoft.com/office/drawing/2014/main" id="{E75F2840-9474-4E35-8E72-8A448228C455}"/>
              </a:ext>
            </a:extLst>
          </p:cNvPr>
          <p:cNvSpPr>
            <a:spLocks xmlns:a="http://schemas.openxmlformats.org/drawingml/2006/main" noGrp="1"/>
          </p:cNvSpPr>
          <p:nvPr/>
        </p:nvSpPr>
        <p:spPr>
          <a:xfrm xmlns:a="http://schemas.openxmlformats.org/drawingml/2006/main">
            <a:off x="3695700" y="3981450"/>
            <a:ext cx="1695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66"/>
                </a:solidFill>
                <a:latin typeface="Aptos"/>
                <a:ea typeface="Aptos"/>
                <a:cs typeface="Aptos"/>
              </a:defRPr>
            </a:pPr>
            <a:r>
              <a:rPr sz="863" b="0">
                <a:solidFill>
                  <a:srgbClr val="657066"/>
                </a:solidFill>
                <a:latin typeface="Aptos"/>
                <a:ea typeface="Aptos"/>
                <a:cs typeface="Aptos"/>
              </a:rPr>
              <a:t>Monthly strategic support once offer tracks and target sectors are agreed.</a:t>
            </a:r>
          </a:p>
        </p:txBody>
      </p:sp>
      <p:sp>
        <p:nvSpPr>
          <p:cNvPr id="14" name="">
            <a:extLst xmlns:a="http://schemas.openxmlformats.org/drawingml/2006/main">
              <a:ext uri="{FF2B5EF4-FFF2-40B4-BE49-F238E27FC236}">
                <a16:creationId xmlns:a16="http://schemas.microsoft.com/office/drawing/2014/main" id="{6CC86ACE-84FD-412A-9B3E-C270CD0222BF}"/>
              </a:ext>
            </a:extLst>
          </p:cNvPr>
          <p:cNvSpPr>
            <a:spLocks xmlns:a="http://schemas.openxmlformats.org/drawingml/2006/main" noGrp="1"/>
          </p:cNvSpPr>
          <p:nvPr/>
        </p:nvSpPr>
        <p:spPr>
          <a:xfrm xmlns:a="http://schemas.openxmlformats.org/drawingml/2006/main">
            <a:off x="5695950" y="4953000"/>
            <a:ext cx="55245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45A281CF-AAFE-4D18-A892-DEF0CA25A2C7}"/>
              </a:ext>
            </a:extLst>
          </p:cNvPr>
          <p:cNvSpPr>
            <a:spLocks xmlns:a="http://schemas.openxmlformats.org/drawingml/2006/main" noGrp="1"/>
          </p:cNvSpPr>
          <p:nvPr/>
        </p:nvSpPr>
        <p:spPr>
          <a:xfrm xmlns:a="http://schemas.openxmlformats.org/drawingml/2006/main">
            <a:off x="6267450" y="2609850"/>
            <a:ext cx="2190750" cy="234315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16833DB-1184-4013-8D05-0BCF40C30D71}"/>
              </a:ext>
            </a:extLst>
          </p:cNvPr>
          <p:cNvSpPr>
            <a:spLocks xmlns:a="http://schemas.openxmlformats.org/drawingml/2006/main" noGrp="1"/>
          </p:cNvSpPr>
          <p:nvPr/>
        </p:nvSpPr>
        <p:spPr>
          <a:xfrm xmlns:a="http://schemas.openxmlformats.org/drawingml/2006/main">
            <a:off x="6457950" y="287655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B56A3A"/>
                </a:solidFill>
                <a:latin typeface="Aptos Mono"/>
                <a:ea typeface="Aptos Mono"/>
                <a:cs typeface="Aptos Mono"/>
              </a:defRPr>
            </a:pPr>
            <a:r>
              <a:rPr sz="1500" b="1">
                <a:solidFill>
                  <a:srgbClr val="B56A3A"/>
                </a:solidFill>
                <a:latin typeface="Aptos Mono"/>
                <a:ea typeface="Aptos Mono"/>
                <a:cs typeface="Aptos Mono"/>
              </a:rPr>
              <a:t>3</a:t>
            </a:r>
          </a:p>
        </p:txBody>
      </p:sp>
      <p:sp>
        <p:nvSpPr>
          <p:cNvPr id="17" name="">
            <a:extLst xmlns:a="http://schemas.openxmlformats.org/drawingml/2006/main">
              <a:ext uri="{FF2B5EF4-FFF2-40B4-BE49-F238E27FC236}">
                <a16:creationId xmlns:a16="http://schemas.microsoft.com/office/drawing/2014/main" id="{1EF66C3A-1D45-4777-8B26-B6F611FFFFFF}"/>
              </a:ext>
            </a:extLst>
          </p:cNvPr>
          <p:cNvSpPr>
            <a:spLocks xmlns:a="http://schemas.openxmlformats.org/drawingml/2006/main" noGrp="1"/>
          </p:cNvSpPr>
          <p:nvPr/>
        </p:nvSpPr>
        <p:spPr>
          <a:xfrm xmlns:a="http://schemas.openxmlformats.org/drawingml/2006/main">
            <a:off x="6457950" y="3276600"/>
            <a:ext cx="16954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Joint business development</a:t>
            </a:r>
          </a:p>
        </p:txBody>
      </p:sp>
      <p:sp>
        <p:nvSpPr>
          <p:cNvPr id="18" name="">
            <a:extLst xmlns:a="http://schemas.openxmlformats.org/drawingml/2006/main">
              <a:ext uri="{FF2B5EF4-FFF2-40B4-BE49-F238E27FC236}">
                <a16:creationId xmlns:a16="http://schemas.microsoft.com/office/drawing/2014/main" id="{E5DC2CD1-55F7-4648-980F-483CDA3C9EFE}"/>
              </a:ext>
            </a:extLst>
          </p:cNvPr>
          <p:cNvSpPr>
            <a:spLocks xmlns:a="http://schemas.openxmlformats.org/drawingml/2006/main" noGrp="1"/>
          </p:cNvSpPr>
          <p:nvPr/>
        </p:nvSpPr>
        <p:spPr>
          <a:xfrm xmlns:a="http://schemas.openxmlformats.org/drawingml/2006/main">
            <a:off x="6457950" y="3714750"/>
            <a:ext cx="1695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66"/>
                </a:solidFill>
                <a:latin typeface="Aptos"/>
                <a:ea typeface="Aptos"/>
                <a:cs typeface="Aptos"/>
              </a:defRPr>
            </a:pPr>
            <a:r>
              <a:rPr sz="863" b="0">
                <a:solidFill>
                  <a:srgbClr val="657066"/>
                </a:solidFill>
                <a:latin typeface="Aptos"/>
                <a:ea typeface="Aptos"/>
                <a:cs typeface="Aptos"/>
              </a:rPr>
              <a:t>Shared pipeline work with defined ownership, account rules and success criteria.</a:t>
            </a:r>
          </a:p>
        </p:txBody>
      </p:sp>
      <p:sp>
        <p:nvSpPr>
          <p:cNvPr id="19" name="">
            <a:extLst xmlns:a="http://schemas.openxmlformats.org/drawingml/2006/main">
              <a:ext uri="{FF2B5EF4-FFF2-40B4-BE49-F238E27FC236}">
                <a16:creationId xmlns:a16="http://schemas.microsoft.com/office/drawing/2014/main" id="{B7A70281-D8CF-47C3-BF67-47E63B4C814A}"/>
              </a:ext>
            </a:extLst>
          </p:cNvPr>
          <p:cNvSpPr>
            <a:spLocks xmlns:a="http://schemas.openxmlformats.org/drawingml/2006/main" noGrp="1"/>
          </p:cNvSpPr>
          <p:nvPr/>
        </p:nvSpPr>
        <p:spPr>
          <a:xfrm xmlns:a="http://schemas.openxmlformats.org/drawingml/2006/main">
            <a:off x="8458200" y="4953000"/>
            <a:ext cx="55245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D133844-49CD-4CAF-B015-1EEA86F37832}"/>
              </a:ext>
            </a:extLst>
          </p:cNvPr>
          <p:cNvSpPr>
            <a:spLocks xmlns:a="http://schemas.openxmlformats.org/drawingml/2006/main" noGrp="1"/>
          </p:cNvSpPr>
          <p:nvPr/>
        </p:nvSpPr>
        <p:spPr>
          <a:xfrm xmlns:a="http://schemas.openxmlformats.org/drawingml/2006/main">
            <a:off x="9029700" y="2343150"/>
            <a:ext cx="2190750" cy="260985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F622EB2-2EEE-4667-9EFE-01BF3AF1602B}"/>
              </a:ext>
            </a:extLst>
          </p:cNvPr>
          <p:cNvSpPr>
            <a:spLocks xmlns:a="http://schemas.openxmlformats.org/drawingml/2006/main" noGrp="1"/>
          </p:cNvSpPr>
          <p:nvPr/>
        </p:nvSpPr>
        <p:spPr>
          <a:xfrm xmlns:a="http://schemas.openxmlformats.org/drawingml/2006/main">
            <a:off x="9220200" y="260985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B56A3A"/>
                </a:solidFill>
                <a:latin typeface="Aptos Mono"/>
                <a:ea typeface="Aptos Mono"/>
                <a:cs typeface="Aptos Mono"/>
              </a:defRPr>
            </a:pPr>
            <a:r>
              <a:rPr sz="1500" b="1">
                <a:solidFill>
                  <a:srgbClr val="B56A3A"/>
                </a:solidFill>
                <a:latin typeface="Aptos Mono"/>
                <a:ea typeface="Aptos Mono"/>
                <a:cs typeface="Aptos Mono"/>
              </a:rPr>
              <a:t>4</a:t>
            </a:r>
          </a:p>
        </p:txBody>
      </p:sp>
      <p:sp>
        <p:nvSpPr>
          <p:cNvPr id="22" name="">
            <a:extLst xmlns:a="http://schemas.openxmlformats.org/drawingml/2006/main">
              <a:ext uri="{FF2B5EF4-FFF2-40B4-BE49-F238E27FC236}">
                <a16:creationId xmlns:a16="http://schemas.microsoft.com/office/drawing/2014/main" id="{AA8AE4F3-A0E9-468B-8938-4B13300AFB90}"/>
              </a:ext>
            </a:extLst>
          </p:cNvPr>
          <p:cNvSpPr>
            <a:spLocks xmlns:a="http://schemas.openxmlformats.org/drawingml/2006/main" noGrp="1"/>
          </p:cNvSpPr>
          <p:nvPr/>
        </p:nvSpPr>
        <p:spPr>
          <a:xfrm xmlns:a="http://schemas.openxmlformats.org/drawingml/2006/main">
            <a:off x="9220200" y="3009900"/>
            <a:ext cx="16954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Success component</a:t>
            </a:r>
          </a:p>
        </p:txBody>
      </p:sp>
      <p:sp>
        <p:nvSpPr>
          <p:cNvPr id="23" name="">
            <a:extLst xmlns:a="http://schemas.openxmlformats.org/drawingml/2006/main">
              <a:ext uri="{FF2B5EF4-FFF2-40B4-BE49-F238E27FC236}">
                <a16:creationId xmlns:a16="http://schemas.microsoft.com/office/drawing/2014/main" id="{3AFA887C-9E3C-4372-803F-C8C5B016C055}"/>
              </a:ext>
            </a:extLst>
          </p:cNvPr>
          <p:cNvSpPr>
            <a:spLocks xmlns:a="http://schemas.openxmlformats.org/drawingml/2006/main" noGrp="1"/>
          </p:cNvSpPr>
          <p:nvPr/>
        </p:nvSpPr>
        <p:spPr>
          <a:xfrm xmlns:a="http://schemas.openxmlformats.org/drawingml/2006/main">
            <a:off x="9220200" y="3448050"/>
            <a:ext cx="16954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66"/>
                </a:solidFill>
                <a:latin typeface="Aptos"/>
                <a:ea typeface="Aptos"/>
                <a:cs typeface="Aptos"/>
              </a:defRPr>
            </a:pPr>
            <a:r>
              <a:rPr sz="863" b="0">
                <a:solidFill>
                  <a:srgbClr val="657066"/>
                </a:solidFill>
                <a:latin typeface="Aptos"/>
                <a:ea typeface="Aptos"/>
                <a:cs typeface="Aptos"/>
              </a:rPr>
              <a:t>Optional upside for opportunities sourced or materially shaped by NORC.</a:t>
            </a:r>
          </a:p>
        </p:txBody>
      </p:sp>
      <p:sp>
        <p:nvSpPr>
          <p:cNvPr id="24" name="">
            <a:extLst xmlns:a="http://schemas.openxmlformats.org/drawingml/2006/main">
              <a:ext uri="{FF2B5EF4-FFF2-40B4-BE49-F238E27FC236}">
                <a16:creationId xmlns:a16="http://schemas.microsoft.com/office/drawing/2014/main" id="{02BB1073-D9CD-400C-9BBE-850FCBCEB597}"/>
              </a:ext>
            </a:extLst>
          </p:cNvPr>
          <p:cNvSpPr>
            <a:spLocks xmlns:a="http://schemas.openxmlformats.org/drawingml/2006/main" noGrp="1"/>
          </p:cNvSpPr>
          <p:nvPr/>
        </p:nvSpPr>
        <p:spPr>
          <a:xfrm xmlns:a="http://schemas.openxmlformats.org/drawingml/2006/main">
            <a:off x="971550" y="5600700"/>
            <a:ext cx="9334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84A3B"/>
                </a:solidFill>
                <a:latin typeface="Aptos Display"/>
                <a:ea typeface="Aptos Display"/>
                <a:cs typeface="Aptos Display"/>
              </a:defRPr>
            </a:pPr>
            <a:r>
              <a:rPr sz="1500" b="1">
                <a:solidFill>
                  <a:srgbClr val="184A3B"/>
                </a:solidFill>
                <a:latin typeface="Aptos Display"/>
                <a:ea typeface="Aptos Display"/>
                <a:cs typeface="Aptos Display"/>
              </a:rPr>
              <a:t>Guardrail: NORC should not start with unpaid lead generation. The first value is market clarity and positioning.</a:t>
            </a:r>
          </a:p>
        </p:txBody>
      </p:sp>
      <p:sp>
        <p:nvSpPr>
          <p:cNvPr id="25" name="">
            <a:extLst xmlns:a="http://schemas.openxmlformats.org/drawingml/2006/main">
              <a:ext uri="{FF2B5EF4-FFF2-40B4-BE49-F238E27FC236}">
                <a16:creationId xmlns:a16="http://schemas.microsoft.com/office/drawing/2014/main" id="{EFC2D2A7-122B-44EE-B958-8A4C364598C7}"/>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85CD73B3-0A70-41E6-9B10-3EEF5FD8D28C}"/>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27" name="">
            <a:extLst xmlns:a="http://schemas.openxmlformats.org/drawingml/2006/main">
              <a:ext uri="{FF2B5EF4-FFF2-40B4-BE49-F238E27FC236}">
                <a16:creationId xmlns:a16="http://schemas.microsoft.com/office/drawing/2014/main" id="{59CCA9F2-6CF8-4985-B8F3-6BB2457F103E}"/>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07</a:t>
            </a:r>
          </a:p>
        </p:txBody>
      </p:sp>
    </p:spTree>
    <p:extLst>
      <p:ext uri="{BB962C8B-B14F-4D97-AF65-F5344CB8AC3E}">
        <p14:creationId xmlns:p14="http://schemas.microsoft.com/office/powerpoint/2010/main" val="3192263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15F28B-438D-44A9-82D9-74AFC146A1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0A4DE70-E570-42D8-B92E-AA0377E3485F}"/>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C9D1C29-69BE-435A-B652-B614A955C52A}"/>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90-DAY PILOT</a:t>
            </a:r>
          </a:p>
        </p:txBody>
      </p:sp>
      <p:sp>
        <p:nvSpPr>
          <p:cNvPr id="4" name="">
            <a:extLst xmlns:a="http://schemas.openxmlformats.org/drawingml/2006/main">
              <a:ext uri="{FF2B5EF4-FFF2-40B4-BE49-F238E27FC236}">
                <a16:creationId xmlns:a16="http://schemas.microsoft.com/office/drawing/2014/main" id="{09119BBB-1BBE-405B-ABE1-AFB36236D4DF}"/>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The first paid step should produce market assets and real feedback in 90 days.</a:t>
            </a:r>
          </a:p>
        </p:txBody>
      </p:sp>
      <p:sp>
        <p:nvSpPr>
          <p:cNvPr id="5" name="">
            <a:extLst xmlns:a="http://schemas.openxmlformats.org/drawingml/2006/main">
              <a:ext uri="{FF2B5EF4-FFF2-40B4-BE49-F238E27FC236}">
                <a16:creationId xmlns:a16="http://schemas.microsoft.com/office/drawing/2014/main" id="{250605C0-9103-408A-B554-2D5ECFB0319E}"/>
              </a:ext>
            </a:extLst>
          </p:cNvPr>
          <p:cNvSpPr>
            <a:spLocks xmlns:a="http://schemas.openxmlformats.org/drawingml/2006/main" noGrp="1"/>
          </p:cNvSpPr>
          <p:nvPr/>
        </p:nvSpPr>
        <p:spPr>
          <a:xfrm xmlns:a="http://schemas.openxmlformats.org/drawingml/2006/main">
            <a:off x="704850" y="2495550"/>
            <a:ext cx="1657350" cy="2038350"/>
          </a:xfrm>
          <a:prstGeom xmlns:a="http://schemas.openxmlformats.org/drawingml/2006/main" prst="rect">
            <a:avLst/>
          </a:prstGeom>
          <a:solidFill xmlns:a="http://schemas.openxmlformats.org/drawingml/2006/main">
            <a:srgbClr val="202824"/>
          </a:solidFill>
          <a:ln xmlns:a="http://schemas.openxmlformats.org/drawingml/2006/main" w="9525">
            <a:solidFill>
              <a:srgbClr val="202824"/>
            </a:solidFill>
            <a:prstDash val="solid"/>
          </a:ln>
        </p:spPr>
      </p:sp>
      <p:sp>
        <p:nvSpPr>
          <p:cNvPr id="6" name="">
            <a:extLst xmlns:a="http://schemas.openxmlformats.org/drawingml/2006/main">
              <a:ext uri="{FF2B5EF4-FFF2-40B4-BE49-F238E27FC236}">
                <a16:creationId xmlns:a16="http://schemas.microsoft.com/office/drawing/2014/main" id="{7406FF1D-F301-4306-A78C-F614291021C2}"/>
              </a:ext>
            </a:extLst>
          </p:cNvPr>
          <p:cNvSpPr>
            <a:spLocks xmlns:a="http://schemas.openxmlformats.org/drawingml/2006/main" noGrp="1"/>
          </p:cNvSpPr>
          <p:nvPr/>
        </p:nvSpPr>
        <p:spPr>
          <a:xfrm xmlns:a="http://schemas.openxmlformats.org/drawingml/2006/main">
            <a:off x="857250" y="26860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8CB9C7"/>
                </a:solidFill>
                <a:latin typeface="Aptos Mono"/>
                <a:ea typeface="Aptos Mono"/>
                <a:cs typeface="Aptos Mono"/>
              </a:defRPr>
            </a:pPr>
            <a:r>
              <a:rPr sz="1425" b="1">
                <a:solidFill>
                  <a:srgbClr val="8CB9C7"/>
                </a:solidFill>
                <a:latin typeface="Aptos Mono"/>
                <a:ea typeface="Aptos Mono"/>
                <a:cs typeface="Aptos Mono"/>
              </a:rPr>
              <a:t>01</a:t>
            </a:r>
          </a:p>
        </p:txBody>
      </p:sp>
      <p:sp>
        <p:nvSpPr>
          <p:cNvPr id="7" name="">
            <a:extLst xmlns:a="http://schemas.openxmlformats.org/drawingml/2006/main">
              <a:ext uri="{FF2B5EF4-FFF2-40B4-BE49-F238E27FC236}">
                <a16:creationId xmlns:a16="http://schemas.microsoft.com/office/drawing/2014/main" id="{78923020-A712-4DA8-B9FF-9115248F65F8}"/>
              </a:ext>
            </a:extLst>
          </p:cNvPr>
          <p:cNvSpPr>
            <a:spLocks xmlns:a="http://schemas.openxmlformats.org/drawingml/2006/main" noGrp="1"/>
          </p:cNvSpPr>
          <p:nvPr/>
        </p:nvSpPr>
        <p:spPr>
          <a:xfrm xmlns:a="http://schemas.openxmlformats.org/drawingml/2006/main">
            <a:off x="857250" y="3105150"/>
            <a:ext cx="123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Alignment</a:t>
            </a:r>
          </a:p>
        </p:txBody>
      </p:sp>
      <p:sp>
        <p:nvSpPr>
          <p:cNvPr id="8" name="">
            <a:extLst xmlns:a="http://schemas.openxmlformats.org/drawingml/2006/main">
              <a:ext uri="{FF2B5EF4-FFF2-40B4-BE49-F238E27FC236}">
                <a16:creationId xmlns:a16="http://schemas.microsoft.com/office/drawing/2014/main" id="{C13301B4-E692-46E6-AE0D-A53286E2F1BD}"/>
              </a:ext>
            </a:extLst>
          </p:cNvPr>
          <p:cNvSpPr>
            <a:spLocks xmlns:a="http://schemas.openxmlformats.org/drawingml/2006/main" noGrp="1"/>
          </p:cNvSpPr>
          <p:nvPr/>
        </p:nvSpPr>
        <p:spPr>
          <a:xfrm xmlns:a="http://schemas.openxmlformats.org/drawingml/2006/main">
            <a:off x="857250" y="3524250"/>
            <a:ext cx="1257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D7DDD9"/>
                </a:solidFill>
                <a:latin typeface="Aptos"/>
                <a:ea typeface="Aptos"/>
                <a:cs typeface="Aptos"/>
              </a:defRPr>
            </a:pPr>
            <a:r>
              <a:rPr sz="825" b="0">
                <a:solidFill>
                  <a:srgbClr val="D7DDD9"/>
                </a:solidFill>
                <a:latin typeface="Aptos"/>
                <a:ea typeface="Aptos"/>
                <a:cs typeface="Aptos"/>
              </a:rPr>
              <a:t>Ambition, countries, sectors, offer tracks and buyer assumptions</a:t>
            </a:r>
          </a:p>
        </p:txBody>
      </p:sp>
      <p:sp>
        <p:nvSpPr>
          <p:cNvPr id="9" name="">
            <a:extLst xmlns:a="http://schemas.openxmlformats.org/drawingml/2006/main">
              <a:ext uri="{FF2B5EF4-FFF2-40B4-BE49-F238E27FC236}">
                <a16:creationId xmlns:a16="http://schemas.microsoft.com/office/drawing/2014/main" id="{F13C8D95-8603-4595-8CE6-ABB220E47F4F}"/>
              </a:ext>
            </a:extLst>
          </p:cNvPr>
          <p:cNvSpPr>
            <a:spLocks xmlns:a="http://schemas.openxmlformats.org/drawingml/2006/main" noGrp="1"/>
          </p:cNvSpPr>
          <p:nvPr/>
        </p:nvSpPr>
        <p:spPr>
          <a:xfrm xmlns:a="http://schemas.openxmlformats.org/drawingml/2006/main">
            <a:off x="2362200" y="3505200"/>
            <a:ext cx="41910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4A5B447-4B32-4787-8F5E-379F346742B7}"/>
              </a:ext>
            </a:extLst>
          </p:cNvPr>
          <p:cNvSpPr>
            <a:spLocks xmlns:a="http://schemas.openxmlformats.org/drawingml/2006/main" noGrp="1"/>
          </p:cNvSpPr>
          <p:nvPr/>
        </p:nvSpPr>
        <p:spPr>
          <a:xfrm xmlns:a="http://schemas.openxmlformats.org/drawingml/2006/main">
            <a:off x="2800350" y="2495550"/>
            <a:ext cx="1657350" cy="2038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11" name="">
            <a:extLst xmlns:a="http://schemas.openxmlformats.org/drawingml/2006/main">
              <a:ext uri="{FF2B5EF4-FFF2-40B4-BE49-F238E27FC236}">
                <a16:creationId xmlns:a16="http://schemas.microsoft.com/office/drawing/2014/main" id="{AF05C64F-2CD0-436D-9E05-0F34909DECFA}"/>
              </a:ext>
            </a:extLst>
          </p:cNvPr>
          <p:cNvSpPr>
            <a:spLocks xmlns:a="http://schemas.openxmlformats.org/drawingml/2006/main" noGrp="1"/>
          </p:cNvSpPr>
          <p:nvPr/>
        </p:nvSpPr>
        <p:spPr>
          <a:xfrm xmlns:a="http://schemas.openxmlformats.org/drawingml/2006/main">
            <a:off x="2952750" y="26860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56A3A"/>
                </a:solidFill>
                <a:latin typeface="Aptos Mono"/>
                <a:ea typeface="Aptos Mono"/>
                <a:cs typeface="Aptos Mono"/>
              </a:defRPr>
            </a:pPr>
            <a:r>
              <a:rPr sz="1425" b="1">
                <a:solidFill>
                  <a:srgbClr val="B56A3A"/>
                </a:solidFill>
                <a:latin typeface="Aptos Mono"/>
                <a:ea typeface="Aptos Mono"/>
                <a:cs typeface="Aptos Mono"/>
              </a:rPr>
              <a:t>02</a:t>
            </a:r>
          </a:p>
        </p:txBody>
      </p:sp>
      <p:sp>
        <p:nvSpPr>
          <p:cNvPr id="12" name="">
            <a:extLst xmlns:a="http://schemas.openxmlformats.org/drawingml/2006/main">
              <a:ext uri="{FF2B5EF4-FFF2-40B4-BE49-F238E27FC236}">
                <a16:creationId xmlns:a16="http://schemas.microsoft.com/office/drawing/2014/main" id="{22890CF4-71FF-4CFF-A22B-1ED39C86738C}"/>
              </a:ext>
            </a:extLst>
          </p:cNvPr>
          <p:cNvSpPr>
            <a:spLocks xmlns:a="http://schemas.openxmlformats.org/drawingml/2006/main" noGrp="1"/>
          </p:cNvSpPr>
          <p:nvPr/>
        </p:nvSpPr>
        <p:spPr>
          <a:xfrm xmlns:a="http://schemas.openxmlformats.org/drawingml/2006/main">
            <a:off x="2952750" y="3105150"/>
            <a:ext cx="123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Display"/>
                <a:ea typeface="Aptos Display"/>
                <a:cs typeface="Aptos Display"/>
              </a:defRPr>
            </a:pPr>
            <a:r>
              <a:rPr sz="1275" b="1">
                <a:solidFill>
                  <a:srgbClr val="17211C"/>
                </a:solidFill>
                <a:latin typeface="Aptos Display"/>
                <a:ea typeface="Aptos Display"/>
                <a:cs typeface="Aptos Display"/>
              </a:rPr>
              <a:t>Positioning</a:t>
            </a:r>
          </a:p>
        </p:txBody>
      </p:sp>
      <p:sp>
        <p:nvSpPr>
          <p:cNvPr id="13" name="">
            <a:extLst xmlns:a="http://schemas.openxmlformats.org/drawingml/2006/main">
              <a:ext uri="{FF2B5EF4-FFF2-40B4-BE49-F238E27FC236}">
                <a16:creationId xmlns:a16="http://schemas.microsoft.com/office/drawing/2014/main" id="{CB4641CB-ED30-408F-8919-ABF07689BF77}"/>
              </a:ext>
            </a:extLst>
          </p:cNvPr>
          <p:cNvSpPr>
            <a:spLocks xmlns:a="http://schemas.openxmlformats.org/drawingml/2006/main" noGrp="1"/>
          </p:cNvSpPr>
          <p:nvPr/>
        </p:nvSpPr>
        <p:spPr>
          <a:xfrm xmlns:a="http://schemas.openxmlformats.org/drawingml/2006/main">
            <a:off x="2952750" y="3524250"/>
            <a:ext cx="1257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Nordic value proposition, message hierarchy and proof requirements</a:t>
            </a:r>
          </a:p>
        </p:txBody>
      </p:sp>
      <p:sp>
        <p:nvSpPr>
          <p:cNvPr id="14" name="">
            <a:extLst xmlns:a="http://schemas.openxmlformats.org/drawingml/2006/main">
              <a:ext uri="{FF2B5EF4-FFF2-40B4-BE49-F238E27FC236}">
                <a16:creationId xmlns:a16="http://schemas.microsoft.com/office/drawing/2014/main" id="{BB90BE7C-0533-4535-BDB5-E88CD42BCE53}"/>
              </a:ext>
            </a:extLst>
          </p:cNvPr>
          <p:cNvSpPr>
            <a:spLocks xmlns:a="http://schemas.openxmlformats.org/drawingml/2006/main" noGrp="1"/>
          </p:cNvSpPr>
          <p:nvPr/>
        </p:nvSpPr>
        <p:spPr>
          <a:xfrm xmlns:a="http://schemas.openxmlformats.org/drawingml/2006/main">
            <a:off x="4457700" y="3505200"/>
            <a:ext cx="41910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C067AF62-B843-4DC2-9FB2-C09C83466438}"/>
              </a:ext>
            </a:extLst>
          </p:cNvPr>
          <p:cNvSpPr>
            <a:spLocks xmlns:a="http://schemas.openxmlformats.org/drawingml/2006/main" noGrp="1"/>
          </p:cNvSpPr>
          <p:nvPr/>
        </p:nvSpPr>
        <p:spPr>
          <a:xfrm xmlns:a="http://schemas.openxmlformats.org/drawingml/2006/main">
            <a:off x="4895850" y="2495550"/>
            <a:ext cx="1657350" cy="2038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16" name="">
            <a:extLst xmlns:a="http://schemas.openxmlformats.org/drawingml/2006/main">
              <a:ext uri="{FF2B5EF4-FFF2-40B4-BE49-F238E27FC236}">
                <a16:creationId xmlns:a16="http://schemas.microsoft.com/office/drawing/2014/main" id="{12B1638B-3217-42DA-AC11-C30FF8C065A8}"/>
              </a:ext>
            </a:extLst>
          </p:cNvPr>
          <p:cNvSpPr>
            <a:spLocks xmlns:a="http://schemas.openxmlformats.org/drawingml/2006/main" noGrp="1"/>
          </p:cNvSpPr>
          <p:nvPr/>
        </p:nvSpPr>
        <p:spPr>
          <a:xfrm xmlns:a="http://schemas.openxmlformats.org/drawingml/2006/main">
            <a:off x="5048250" y="26860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56A3A"/>
                </a:solidFill>
                <a:latin typeface="Aptos Mono"/>
                <a:ea typeface="Aptos Mono"/>
                <a:cs typeface="Aptos Mono"/>
              </a:defRPr>
            </a:pPr>
            <a:r>
              <a:rPr sz="1425" b="1">
                <a:solidFill>
                  <a:srgbClr val="B56A3A"/>
                </a:solidFill>
                <a:latin typeface="Aptos Mono"/>
                <a:ea typeface="Aptos Mono"/>
                <a:cs typeface="Aptos Mono"/>
              </a:rPr>
              <a:t>03</a:t>
            </a:r>
          </a:p>
        </p:txBody>
      </p:sp>
      <p:sp>
        <p:nvSpPr>
          <p:cNvPr id="17" name="">
            <a:extLst xmlns:a="http://schemas.openxmlformats.org/drawingml/2006/main">
              <a:ext uri="{FF2B5EF4-FFF2-40B4-BE49-F238E27FC236}">
                <a16:creationId xmlns:a16="http://schemas.microsoft.com/office/drawing/2014/main" id="{0C531691-8C8C-48F7-AABC-F8300DB2262D}"/>
              </a:ext>
            </a:extLst>
          </p:cNvPr>
          <p:cNvSpPr>
            <a:spLocks xmlns:a="http://schemas.openxmlformats.org/drawingml/2006/main" noGrp="1"/>
          </p:cNvSpPr>
          <p:nvPr/>
        </p:nvSpPr>
        <p:spPr>
          <a:xfrm xmlns:a="http://schemas.openxmlformats.org/drawingml/2006/main">
            <a:off x="5048250" y="3105150"/>
            <a:ext cx="123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Display"/>
                <a:ea typeface="Aptos Display"/>
                <a:cs typeface="Aptos Display"/>
              </a:defRPr>
            </a:pPr>
            <a:r>
              <a:rPr sz="1275" b="1">
                <a:solidFill>
                  <a:srgbClr val="17211C"/>
                </a:solidFill>
                <a:latin typeface="Aptos Display"/>
                <a:ea typeface="Aptos Display"/>
                <a:cs typeface="Aptos Display"/>
              </a:rPr>
              <a:t>Sector shortlist</a:t>
            </a:r>
          </a:p>
        </p:txBody>
      </p:sp>
      <p:sp>
        <p:nvSpPr>
          <p:cNvPr id="18" name="">
            <a:extLst xmlns:a="http://schemas.openxmlformats.org/drawingml/2006/main">
              <a:ext uri="{FF2B5EF4-FFF2-40B4-BE49-F238E27FC236}">
                <a16:creationId xmlns:a16="http://schemas.microsoft.com/office/drawing/2014/main" id="{844A1D32-5D09-4173-B69F-70FDE34BAB59}"/>
              </a:ext>
            </a:extLst>
          </p:cNvPr>
          <p:cNvSpPr>
            <a:spLocks xmlns:a="http://schemas.openxmlformats.org/drawingml/2006/main" noGrp="1"/>
          </p:cNvSpPr>
          <p:nvPr/>
        </p:nvSpPr>
        <p:spPr>
          <a:xfrm xmlns:a="http://schemas.openxmlformats.org/drawingml/2006/main">
            <a:off x="5048250" y="3524250"/>
            <a:ext cx="1257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2-3 sectors with buying logic, barriers, arguments and reference needs</a:t>
            </a:r>
          </a:p>
        </p:txBody>
      </p:sp>
      <p:sp>
        <p:nvSpPr>
          <p:cNvPr id="19" name="">
            <a:extLst xmlns:a="http://schemas.openxmlformats.org/drawingml/2006/main">
              <a:ext uri="{FF2B5EF4-FFF2-40B4-BE49-F238E27FC236}">
                <a16:creationId xmlns:a16="http://schemas.microsoft.com/office/drawing/2014/main" id="{44F5312C-85E7-4424-BEB2-659F4D084A9A}"/>
              </a:ext>
            </a:extLst>
          </p:cNvPr>
          <p:cNvSpPr>
            <a:spLocks xmlns:a="http://schemas.openxmlformats.org/drawingml/2006/main" noGrp="1"/>
          </p:cNvSpPr>
          <p:nvPr/>
        </p:nvSpPr>
        <p:spPr>
          <a:xfrm xmlns:a="http://schemas.openxmlformats.org/drawingml/2006/main">
            <a:off x="6553200" y="3505200"/>
            <a:ext cx="41910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FF06D5C-D73D-49B4-9077-451F4B2B204F}"/>
              </a:ext>
            </a:extLst>
          </p:cNvPr>
          <p:cNvSpPr>
            <a:spLocks xmlns:a="http://schemas.openxmlformats.org/drawingml/2006/main" noGrp="1"/>
          </p:cNvSpPr>
          <p:nvPr/>
        </p:nvSpPr>
        <p:spPr>
          <a:xfrm xmlns:a="http://schemas.openxmlformats.org/drawingml/2006/main">
            <a:off x="6991350" y="2495550"/>
            <a:ext cx="1657350" cy="2038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21" name="">
            <a:extLst xmlns:a="http://schemas.openxmlformats.org/drawingml/2006/main">
              <a:ext uri="{FF2B5EF4-FFF2-40B4-BE49-F238E27FC236}">
                <a16:creationId xmlns:a16="http://schemas.microsoft.com/office/drawing/2014/main" id="{DFCA0A01-623F-4674-80C2-D065083B6C90}"/>
              </a:ext>
            </a:extLst>
          </p:cNvPr>
          <p:cNvSpPr>
            <a:spLocks xmlns:a="http://schemas.openxmlformats.org/drawingml/2006/main" noGrp="1"/>
          </p:cNvSpPr>
          <p:nvPr/>
        </p:nvSpPr>
        <p:spPr>
          <a:xfrm xmlns:a="http://schemas.openxmlformats.org/drawingml/2006/main">
            <a:off x="7143750" y="26860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56A3A"/>
                </a:solidFill>
                <a:latin typeface="Aptos Mono"/>
                <a:ea typeface="Aptos Mono"/>
                <a:cs typeface="Aptos Mono"/>
              </a:defRPr>
            </a:pPr>
            <a:r>
              <a:rPr sz="1425" b="1">
                <a:solidFill>
                  <a:srgbClr val="B56A3A"/>
                </a:solidFill>
                <a:latin typeface="Aptos Mono"/>
                <a:ea typeface="Aptos Mono"/>
                <a:cs typeface="Aptos Mono"/>
              </a:rPr>
              <a:t>04</a:t>
            </a:r>
          </a:p>
        </p:txBody>
      </p:sp>
      <p:sp>
        <p:nvSpPr>
          <p:cNvPr id="22" name="">
            <a:extLst xmlns:a="http://schemas.openxmlformats.org/drawingml/2006/main">
              <a:ext uri="{FF2B5EF4-FFF2-40B4-BE49-F238E27FC236}">
                <a16:creationId xmlns:a16="http://schemas.microsoft.com/office/drawing/2014/main" id="{83A1E684-E681-423E-BEDF-8221881F599B}"/>
              </a:ext>
            </a:extLst>
          </p:cNvPr>
          <p:cNvSpPr>
            <a:spLocks xmlns:a="http://schemas.openxmlformats.org/drawingml/2006/main" noGrp="1"/>
          </p:cNvSpPr>
          <p:nvPr/>
        </p:nvSpPr>
        <p:spPr>
          <a:xfrm xmlns:a="http://schemas.openxmlformats.org/drawingml/2006/main">
            <a:off x="7143750" y="3105150"/>
            <a:ext cx="123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Display"/>
                <a:ea typeface="Aptos Display"/>
                <a:cs typeface="Aptos Display"/>
              </a:defRPr>
            </a:pPr>
            <a:r>
              <a:rPr sz="1275" b="1">
                <a:solidFill>
                  <a:srgbClr val="17211C"/>
                </a:solidFill>
                <a:latin typeface="Aptos Display"/>
                <a:ea typeface="Aptos Display"/>
                <a:cs typeface="Aptos Display"/>
              </a:rPr>
              <a:t>Market assets</a:t>
            </a:r>
          </a:p>
        </p:txBody>
      </p:sp>
      <p:sp>
        <p:nvSpPr>
          <p:cNvPr id="23" name="">
            <a:extLst xmlns:a="http://schemas.openxmlformats.org/drawingml/2006/main">
              <a:ext uri="{FF2B5EF4-FFF2-40B4-BE49-F238E27FC236}">
                <a16:creationId xmlns:a16="http://schemas.microsoft.com/office/drawing/2014/main" id="{42A7239F-0DFF-40A8-B72D-E6AE2A19BBDF}"/>
              </a:ext>
            </a:extLst>
          </p:cNvPr>
          <p:cNvSpPr>
            <a:spLocks xmlns:a="http://schemas.openxmlformats.org/drawingml/2006/main" noGrp="1"/>
          </p:cNvSpPr>
          <p:nvPr/>
        </p:nvSpPr>
        <p:spPr>
          <a:xfrm xmlns:a="http://schemas.openxmlformats.org/drawingml/2006/main">
            <a:off x="7143750" y="3524250"/>
            <a:ext cx="1257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Compact deck, web copy, meeting narrative and thought-leadership angles</a:t>
            </a:r>
          </a:p>
        </p:txBody>
      </p:sp>
      <p:sp>
        <p:nvSpPr>
          <p:cNvPr id="24" name="">
            <a:extLst xmlns:a="http://schemas.openxmlformats.org/drawingml/2006/main">
              <a:ext uri="{FF2B5EF4-FFF2-40B4-BE49-F238E27FC236}">
                <a16:creationId xmlns:a16="http://schemas.microsoft.com/office/drawing/2014/main" id="{C1ED73F0-77AF-4868-A436-3BD2ADC37F75}"/>
              </a:ext>
            </a:extLst>
          </p:cNvPr>
          <p:cNvSpPr>
            <a:spLocks xmlns:a="http://schemas.openxmlformats.org/drawingml/2006/main" noGrp="1"/>
          </p:cNvSpPr>
          <p:nvPr/>
        </p:nvSpPr>
        <p:spPr>
          <a:xfrm xmlns:a="http://schemas.openxmlformats.org/drawingml/2006/main">
            <a:off x="8648700" y="3505200"/>
            <a:ext cx="419100" cy="19050"/>
          </a:xfrm>
          <a:prstGeom xmlns:a="http://schemas.openxmlformats.org/drawingml/2006/main" prst="rect">
            <a:avLst/>
          </a:prstGeom>
          <a:solidFill xmlns:a="http://schemas.openxmlformats.org/drawingml/2006/main">
            <a:srgbClr val="B56A3A"/>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E2CE6637-A262-4166-82C0-E6854CCFC700}"/>
              </a:ext>
            </a:extLst>
          </p:cNvPr>
          <p:cNvSpPr>
            <a:spLocks xmlns:a="http://schemas.openxmlformats.org/drawingml/2006/main" noGrp="1"/>
          </p:cNvSpPr>
          <p:nvPr/>
        </p:nvSpPr>
        <p:spPr>
          <a:xfrm xmlns:a="http://schemas.openxmlformats.org/drawingml/2006/main">
            <a:off x="9086850" y="2495550"/>
            <a:ext cx="1657350" cy="20383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26" name="">
            <a:extLst xmlns:a="http://schemas.openxmlformats.org/drawingml/2006/main">
              <a:ext uri="{FF2B5EF4-FFF2-40B4-BE49-F238E27FC236}">
                <a16:creationId xmlns:a16="http://schemas.microsoft.com/office/drawing/2014/main" id="{B49D3E86-CF22-4679-81A2-610652E82238}"/>
              </a:ext>
            </a:extLst>
          </p:cNvPr>
          <p:cNvSpPr>
            <a:spLocks xmlns:a="http://schemas.openxmlformats.org/drawingml/2006/main" noGrp="1"/>
          </p:cNvSpPr>
          <p:nvPr/>
        </p:nvSpPr>
        <p:spPr>
          <a:xfrm xmlns:a="http://schemas.openxmlformats.org/drawingml/2006/main">
            <a:off x="9239250" y="268605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56A3A"/>
                </a:solidFill>
                <a:latin typeface="Aptos Mono"/>
                <a:ea typeface="Aptos Mono"/>
                <a:cs typeface="Aptos Mono"/>
              </a:defRPr>
            </a:pPr>
            <a:r>
              <a:rPr sz="1425" b="1">
                <a:solidFill>
                  <a:srgbClr val="B56A3A"/>
                </a:solidFill>
                <a:latin typeface="Aptos Mono"/>
                <a:ea typeface="Aptos Mono"/>
                <a:cs typeface="Aptos Mono"/>
              </a:rPr>
              <a:t>05</a:t>
            </a:r>
          </a:p>
        </p:txBody>
      </p:sp>
      <p:sp>
        <p:nvSpPr>
          <p:cNvPr id="27" name="">
            <a:extLst xmlns:a="http://schemas.openxmlformats.org/drawingml/2006/main">
              <a:ext uri="{FF2B5EF4-FFF2-40B4-BE49-F238E27FC236}">
                <a16:creationId xmlns:a16="http://schemas.microsoft.com/office/drawing/2014/main" id="{6006DC6C-D7A9-4AC1-8FED-E49395792B8C}"/>
              </a:ext>
            </a:extLst>
          </p:cNvPr>
          <p:cNvSpPr>
            <a:spLocks xmlns:a="http://schemas.openxmlformats.org/drawingml/2006/main" noGrp="1"/>
          </p:cNvSpPr>
          <p:nvPr/>
        </p:nvSpPr>
        <p:spPr>
          <a:xfrm xmlns:a="http://schemas.openxmlformats.org/drawingml/2006/main">
            <a:off x="9239250" y="3105150"/>
            <a:ext cx="123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7211C"/>
                </a:solidFill>
                <a:latin typeface="Aptos Display"/>
                <a:ea typeface="Aptos Display"/>
                <a:cs typeface="Aptos Display"/>
              </a:defRPr>
            </a:pPr>
            <a:r>
              <a:rPr sz="1275" b="1">
                <a:solidFill>
                  <a:srgbClr val="17211C"/>
                </a:solidFill>
                <a:latin typeface="Aptos Display"/>
                <a:ea typeface="Aptos Display"/>
                <a:cs typeface="Aptos Display"/>
              </a:rPr>
              <a:t>Pilot outreach</a:t>
            </a:r>
          </a:p>
        </p:txBody>
      </p:sp>
      <p:sp>
        <p:nvSpPr>
          <p:cNvPr id="28" name="">
            <a:extLst xmlns:a="http://schemas.openxmlformats.org/drawingml/2006/main">
              <a:ext uri="{FF2B5EF4-FFF2-40B4-BE49-F238E27FC236}">
                <a16:creationId xmlns:a16="http://schemas.microsoft.com/office/drawing/2014/main" id="{AFB05A39-8BA9-4D7B-83E4-39A4597442CD}"/>
              </a:ext>
            </a:extLst>
          </p:cNvPr>
          <p:cNvSpPr>
            <a:spLocks xmlns:a="http://schemas.openxmlformats.org/drawingml/2006/main" noGrp="1"/>
          </p:cNvSpPr>
          <p:nvPr/>
        </p:nvSpPr>
        <p:spPr>
          <a:xfrm xmlns:a="http://schemas.openxmlformats.org/drawingml/2006/main">
            <a:off x="9239250" y="3524250"/>
            <a:ext cx="12573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57066"/>
                </a:solidFill>
                <a:latin typeface="Aptos"/>
                <a:ea typeface="Aptos"/>
                <a:cs typeface="Aptos"/>
              </a:defRPr>
            </a:pPr>
            <a:r>
              <a:rPr sz="825" b="0">
                <a:solidFill>
                  <a:srgbClr val="657066"/>
                </a:solidFill>
                <a:latin typeface="Aptos"/>
                <a:ea typeface="Aptos"/>
                <a:cs typeface="Aptos"/>
              </a:rPr>
              <a:t>Limited conversations, reaction log and revised entry recommendation</a:t>
            </a:r>
          </a:p>
        </p:txBody>
      </p:sp>
      <p:sp>
        <p:nvSpPr>
          <p:cNvPr id="29" name="">
            <a:extLst xmlns:a="http://schemas.openxmlformats.org/drawingml/2006/main">
              <a:ext uri="{FF2B5EF4-FFF2-40B4-BE49-F238E27FC236}">
                <a16:creationId xmlns:a16="http://schemas.microsoft.com/office/drawing/2014/main" id="{BECA886D-6746-4E5A-A82F-61700E5DDC2D}"/>
              </a:ext>
            </a:extLst>
          </p:cNvPr>
          <p:cNvSpPr>
            <a:spLocks xmlns:a="http://schemas.openxmlformats.org/drawingml/2006/main" noGrp="1"/>
          </p:cNvSpPr>
          <p:nvPr/>
        </p:nvSpPr>
        <p:spPr>
          <a:xfrm xmlns:a="http://schemas.openxmlformats.org/drawingml/2006/main">
            <a:off x="781050" y="5143500"/>
            <a:ext cx="9810750" cy="495300"/>
          </a:xfrm>
          <a:prstGeom xmlns:a="http://schemas.openxmlformats.org/drawingml/2006/main" prst="rect">
            <a:avLst/>
          </a:prstGeom>
          <a:solidFill xmlns:a="http://schemas.openxmlformats.org/drawingml/2006/main">
            <a:srgbClr val="ECE5D8"/>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ADCD9ACF-CC62-45ED-A439-0BE69A1D24FE}"/>
              </a:ext>
            </a:extLst>
          </p:cNvPr>
          <p:cNvSpPr>
            <a:spLocks xmlns:a="http://schemas.openxmlformats.org/drawingml/2006/main" noGrp="1"/>
          </p:cNvSpPr>
          <p:nvPr/>
        </p:nvSpPr>
        <p:spPr>
          <a:xfrm xmlns:a="http://schemas.openxmlformats.org/drawingml/2006/main">
            <a:off x="1066800" y="5276850"/>
            <a:ext cx="914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17211C"/>
                </a:solidFill>
                <a:latin typeface="Aptos Display"/>
                <a:ea typeface="Aptos Display"/>
                <a:cs typeface="Aptos Display"/>
              </a:defRPr>
            </a:pPr>
            <a:r>
              <a:rPr sz="1350" b="1">
                <a:solidFill>
                  <a:srgbClr val="17211C"/>
                </a:solidFill>
                <a:latin typeface="Aptos Display"/>
                <a:ea typeface="Aptos Display"/>
                <a:cs typeface="Aptos Display"/>
              </a:rPr>
              <a:t>Decision at day 90: stop, refine, or move into a structured Nordic market-entry retainer.</a:t>
            </a:r>
          </a:p>
        </p:txBody>
      </p:sp>
      <p:sp>
        <p:nvSpPr>
          <p:cNvPr id="31" name="">
            <a:extLst xmlns:a="http://schemas.openxmlformats.org/drawingml/2006/main">
              <a:ext uri="{FF2B5EF4-FFF2-40B4-BE49-F238E27FC236}">
                <a16:creationId xmlns:a16="http://schemas.microsoft.com/office/drawing/2014/main" id="{064C7F65-B6B5-4809-8E34-D70EE3DED9D9}"/>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892B3482-823E-409F-B7D5-8C0E62EE7436}"/>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33" name="">
            <a:extLst xmlns:a="http://schemas.openxmlformats.org/drawingml/2006/main">
              <a:ext uri="{FF2B5EF4-FFF2-40B4-BE49-F238E27FC236}">
                <a16:creationId xmlns:a16="http://schemas.microsoft.com/office/drawing/2014/main" id="{BB865D6E-DD7D-4CA8-8274-80A0F0EC8F07}"/>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08</a:t>
            </a:r>
          </a:p>
        </p:txBody>
      </p:sp>
    </p:spTree>
    <p:extLst>
      <p:ext uri="{BB962C8B-B14F-4D97-AF65-F5344CB8AC3E}">
        <p14:creationId xmlns:p14="http://schemas.microsoft.com/office/powerpoint/2010/main" val="3238759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8236C5-DD6E-410A-9270-FF7CD22C71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A57577E-E6B1-40FC-920E-3C80715CEAF4}"/>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184A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856972D-6C02-43F7-8058-FB6976F27C17}"/>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657066"/>
                </a:solidFill>
                <a:latin typeface="Aptos Mono"/>
                <a:ea typeface="Aptos Mono"/>
                <a:cs typeface="Aptos Mono"/>
              </a:defRPr>
            </a:pPr>
            <a:r>
              <a:rPr sz="750" b="1">
                <a:solidFill>
                  <a:srgbClr val="657066"/>
                </a:solidFill>
                <a:latin typeface="Aptos Mono"/>
                <a:ea typeface="Aptos Mono"/>
                <a:cs typeface="Aptos Mono"/>
              </a:rPr>
              <a:t>MEETING QUESTIONS</a:t>
            </a:r>
          </a:p>
        </p:txBody>
      </p:sp>
      <p:sp>
        <p:nvSpPr>
          <p:cNvPr id="4" name="">
            <a:extLst xmlns:a="http://schemas.openxmlformats.org/drawingml/2006/main">
              <a:ext uri="{FF2B5EF4-FFF2-40B4-BE49-F238E27FC236}">
                <a16:creationId xmlns:a16="http://schemas.microsoft.com/office/drawing/2014/main" id="{1776470F-C759-4BBC-9639-F72D8AFC4298}"/>
              </a:ext>
            </a:extLst>
          </p:cNvPr>
          <p:cNvSpPr>
            <a:spLocks xmlns:a="http://schemas.openxmlformats.org/drawingml/2006/main" noGrp="1"/>
          </p:cNvSpPr>
          <p:nvPr/>
        </p:nvSpPr>
        <p:spPr>
          <a:xfrm xmlns:a="http://schemas.openxmlformats.org/drawingml/2006/main">
            <a:off x="552450" y="838200"/>
            <a:ext cx="79057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7211C"/>
                </a:solidFill>
                <a:latin typeface="Aptos Display"/>
                <a:ea typeface="Aptos Display"/>
                <a:cs typeface="Aptos Display"/>
              </a:defRPr>
            </a:pPr>
            <a:r>
              <a:rPr sz="2550" b="1">
                <a:solidFill>
                  <a:srgbClr val="17211C"/>
                </a:solidFill>
                <a:latin typeface="Aptos Display"/>
                <a:ea typeface="Aptos Display"/>
                <a:cs typeface="Aptos Display"/>
              </a:rPr>
              <a:t>The discussion should reveal whether this is a serious Nordic bet.</a:t>
            </a:r>
          </a:p>
        </p:txBody>
      </p:sp>
      <p:sp>
        <p:nvSpPr>
          <p:cNvPr id="5" name="">
            <a:extLst xmlns:a="http://schemas.openxmlformats.org/drawingml/2006/main">
              <a:ext uri="{FF2B5EF4-FFF2-40B4-BE49-F238E27FC236}">
                <a16:creationId xmlns:a16="http://schemas.microsoft.com/office/drawing/2014/main" id="{2514C0B8-0F0A-4D19-B2A4-6DE398B582FF}"/>
              </a:ext>
            </a:extLst>
          </p:cNvPr>
          <p:cNvSpPr>
            <a:spLocks xmlns:a="http://schemas.openxmlformats.org/drawingml/2006/main" noGrp="1"/>
          </p:cNvSpPr>
          <p:nvPr/>
        </p:nvSpPr>
        <p:spPr>
          <a:xfrm xmlns:a="http://schemas.openxmlformats.org/drawingml/2006/main">
            <a:off x="819150" y="2266950"/>
            <a:ext cx="44767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6" name="">
            <a:extLst xmlns:a="http://schemas.openxmlformats.org/drawingml/2006/main">
              <a:ext uri="{FF2B5EF4-FFF2-40B4-BE49-F238E27FC236}">
                <a16:creationId xmlns:a16="http://schemas.microsoft.com/office/drawing/2014/main" id="{92FE1BF5-CD9E-478C-87BB-E634ADAA32F3}"/>
              </a:ext>
            </a:extLst>
          </p:cNvPr>
          <p:cNvSpPr>
            <a:spLocks xmlns:a="http://schemas.openxmlformats.org/drawingml/2006/main" noGrp="1"/>
          </p:cNvSpPr>
          <p:nvPr/>
        </p:nvSpPr>
        <p:spPr>
          <a:xfrm xmlns:a="http://schemas.openxmlformats.org/drawingml/2006/main">
            <a:off x="990600" y="24193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Ambition</a:t>
            </a:r>
          </a:p>
        </p:txBody>
      </p:sp>
      <p:sp>
        <p:nvSpPr>
          <p:cNvPr id="7" name="">
            <a:extLst xmlns:a="http://schemas.openxmlformats.org/drawingml/2006/main">
              <a:ext uri="{FF2B5EF4-FFF2-40B4-BE49-F238E27FC236}">
                <a16:creationId xmlns:a16="http://schemas.microsoft.com/office/drawing/2014/main" id="{54EDB615-0BF0-4581-979A-789C6E05C5CD}"/>
              </a:ext>
            </a:extLst>
          </p:cNvPr>
          <p:cNvSpPr>
            <a:spLocks xmlns:a="http://schemas.openxmlformats.org/drawingml/2006/main" noGrp="1"/>
          </p:cNvSpPr>
          <p:nvPr/>
        </p:nvSpPr>
        <p:spPr>
          <a:xfrm xmlns:a="http://schemas.openxmlformats.org/drawingml/2006/main">
            <a:off x="2305050" y="238125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7211C"/>
                </a:solidFill>
                <a:latin typeface="Aptos"/>
                <a:ea typeface="Aptos"/>
                <a:cs typeface="Aptos"/>
              </a:defRPr>
            </a:pPr>
            <a:r>
              <a:rPr sz="1013" b="1">
                <a:solidFill>
                  <a:srgbClr val="17211C"/>
                </a:solidFill>
                <a:latin typeface="Aptos"/>
                <a:ea typeface="Aptos"/>
                <a:cs typeface="Aptos"/>
              </a:rPr>
              <a:t>Is the Nordic market a test, a strategic expansion or a long-term establishment decision?</a:t>
            </a:r>
          </a:p>
        </p:txBody>
      </p:sp>
      <p:sp>
        <p:nvSpPr>
          <p:cNvPr id="8" name="">
            <a:extLst xmlns:a="http://schemas.openxmlformats.org/drawingml/2006/main">
              <a:ext uri="{FF2B5EF4-FFF2-40B4-BE49-F238E27FC236}">
                <a16:creationId xmlns:a16="http://schemas.microsoft.com/office/drawing/2014/main" id="{558DF917-6C71-4131-B2D9-F43BF85CD109}"/>
              </a:ext>
            </a:extLst>
          </p:cNvPr>
          <p:cNvSpPr>
            <a:spLocks xmlns:a="http://schemas.openxmlformats.org/drawingml/2006/main" noGrp="1"/>
          </p:cNvSpPr>
          <p:nvPr/>
        </p:nvSpPr>
        <p:spPr>
          <a:xfrm xmlns:a="http://schemas.openxmlformats.org/drawingml/2006/main">
            <a:off x="6153150" y="2266950"/>
            <a:ext cx="44767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9" name="">
            <a:extLst xmlns:a="http://schemas.openxmlformats.org/drawingml/2006/main">
              <a:ext uri="{FF2B5EF4-FFF2-40B4-BE49-F238E27FC236}">
                <a16:creationId xmlns:a16="http://schemas.microsoft.com/office/drawing/2014/main" id="{61863D1C-6DE3-47BF-8E12-25A3739C59FB}"/>
              </a:ext>
            </a:extLst>
          </p:cNvPr>
          <p:cNvSpPr>
            <a:spLocks xmlns:a="http://schemas.openxmlformats.org/drawingml/2006/main" noGrp="1"/>
          </p:cNvSpPr>
          <p:nvPr/>
        </p:nvSpPr>
        <p:spPr>
          <a:xfrm xmlns:a="http://schemas.openxmlformats.org/drawingml/2006/main">
            <a:off x="6324600" y="24193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Focus</a:t>
            </a:r>
          </a:p>
        </p:txBody>
      </p:sp>
      <p:sp>
        <p:nvSpPr>
          <p:cNvPr id="10" name="">
            <a:extLst xmlns:a="http://schemas.openxmlformats.org/drawingml/2006/main">
              <a:ext uri="{FF2B5EF4-FFF2-40B4-BE49-F238E27FC236}">
                <a16:creationId xmlns:a16="http://schemas.microsoft.com/office/drawing/2014/main" id="{AFF928D5-62DF-418B-8B38-D3B6DAC4364B}"/>
              </a:ext>
            </a:extLst>
          </p:cNvPr>
          <p:cNvSpPr>
            <a:spLocks xmlns:a="http://schemas.openxmlformats.org/drawingml/2006/main" noGrp="1"/>
          </p:cNvSpPr>
          <p:nvPr/>
        </p:nvSpPr>
        <p:spPr>
          <a:xfrm xmlns:a="http://schemas.openxmlformats.org/drawingml/2006/main">
            <a:off x="7639050" y="238125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7211C"/>
                </a:solidFill>
                <a:latin typeface="Aptos"/>
                <a:ea typeface="Aptos"/>
                <a:cs typeface="Aptos"/>
              </a:defRPr>
            </a:pPr>
            <a:r>
              <a:rPr sz="1013" b="1">
                <a:solidFill>
                  <a:srgbClr val="17211C"/>
                </a:solidFill>
                <a:latin typeface="Aptos"/>
                <a:ea typeface="Aptos"/>
                <a:cs typeface="Aptos"/>
              </a:rPr>
              <a:t>Which countries and offer tracks should come first? Sweden, Denmark, Norway, Finland or all Nordics?</a:t>
            </a:r>
          </a:p>
        </p:txBody>
      </p:sp>
      <p:sp>
        <p:nvSpPr>
          <p:cNvPr id="11" name="">
            <a:extLst xmlns:a="http://schemas.openxmlformats.org/drawingml/2006/main">
              <a:ext uri="{FF2B5EF4-FFF2-40B4-BE49-F238E27FC236}">
                <a16:creationId xmlns:a16="http://schemas.microsoft.com/office/drawing/2014/main" id="{1E55C69F-EDBE-467E-A80C-272392E24612}"/>
              </a:ext>
            </a:extLst>
          </p:cNvPr>
          <p:cNvSpPr>
            <a:spLocks xmlns:a="http://schemas.openxmlformats.org/drawingml/2006/main" noGrp="1"/>
          </p:cNvSpPr>
          <p:nvPr/>
        </p:nvSpPr>
        <p:spPr>
          <a:xfrm xmlns:a="http://schemas.openxmlformats.org/drawingml/2006/main">
            <a:off x="819150" y="3371850"/>
            <a:ext cx="44767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12" name="">
            <a:extLst xmlns:a="http://schemas.openxmlformats.org/drawingml/2006/main">
              <a:ext uri="{FF2B5EF4-FFF2-40B4-BE49-F238E27FC236}">
                <a16:creationId xmlns:a16="http://schemas.microsoft.com/office/drawing/2014/main" id="{F1B2251C-5B9C-4A57-B04D-BA6B7B36DC7F}"/>
              </a:ext>
            </a:extLst>
          </p:cNvPr>
          <p:cNvSpPr>
            <a:spLocks xmlns:a="http://schemas.openxmlformats.org/drawingml/2006/main" noGrp="1"/>
          </p:cNvSpPr>
          <p:nvPr/>
        </p:nvSpPr>
        <p:spPr>
          <a:xfrm xmlns:a="http://schemas.openxmlformats.org/drawingml/2006/main">
            <a:off x="990600" y="35242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Proof</a:t>
            </a:r>
          </a:p>
        </p:txBody>
      </p:sp>
      <p:sp>
        <p:nvSpPr>
          <p:cNvPr id="13" name="">
            <a:extLst xmlns:a="http://schemas.openxmlformats.org/drawingml/2006/main">
              <a:ext uri="{FF2B5EF4-FFF2-40B4-BE49-F238E27FC236}">
                <a16:creationId xmlns:a16="http://schemas.microsoft.com/office/drawing/2014/main" id="{4EAC463E-C52F-45A6-AA97-1513A71625CB}"/>
              </a:ext>
            </a:extLst>
          </p:cNvPr>
          <p:cNvSpPr>
            <a:spLocks xmlns:a="http://schemas.openxmlformats.org/drawingml/2006/main" noGrp="1"/>
          </p:cNvSpPr>
          <p:nvPr/>
        </p:nvSpPr>
        <p:spPr>
          <a:xfrm xmlns:a="http://schemas.openxmlformats.org/drawingml/2006/main">
            <a:off x="2305050" y="348615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7211C"/>
                </a:solidFill>
                <a:latin typeface="Aptos"/>
                <a:ea typeface="Aptos"/>
                <a:cs typeface="Aptos"/>
              </a:defRPr>
            </a:pPr>
            <a:r>
              <a:rPr sz="1013" b="1">
                <a:solidFill>
                  <a:srgbClr val="17211C"/>
                </a:solidFill>
                <a:latin typeface="Aptos"/>
                <a:ea typeface="Aptos"/>
                <a:cs typeface="Aptos"/>
              </a:rPr>
              <a:t>Do you already have Nordic cases, references, leads or partner relationships?</a:t>
            </a:r>
          </a:p>
        </p:txBody>
      </p:sp>
      <p:sp>
        <p:nvSpPr>
          <p:cNvPr id="14" name="">
            <a:extLst xmlns:a="http://schemas.openxmlformats.org/drawingml/2006/main">
              <a:ext uri="{FF2B5EF4-FFF2-40B4-BE49-F238E27FC236}">
                <a16:creationId xmlns:a16="http://schemas.microsoft.com/office/drawing/2014/main" id="{D46C2708-4D98-45FE-B5F2-D4BDFF700D28}"/>
              </a:ext>
            </a:extLst>
          </p:cNvPr>
          <p:cNvSpPr>
            <a:spLocks xmlns:a="http://schemas.openxmlformats.org/drawingml/2006/main" noGrp="1"/>
          </p:cNvSpPr>
          <p:nvPr/>
        </p:nvSpPr>
        <p:spPr>
          <a:xfrm xmlns:a="http://schemas.openxmlformats.org/drawingml/2006/main">
            <a:off x="6153150" y="3371850"/>
            <a:ext cx="44767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15" name="">
            <a:extLst xmlns:a="http://schemas.openxmlformats.org/drawingml/2006/main">
              <a:ext uri="{FF2B5EF4-FFF2-40B4-BE49-F238E27FC236}">
                <a16:creationId xmlns:a16="http://schemas.microsoft.com/office/drawing/2014/main" id="{9CD86A59-18A6-4459-90EE-AD7C9E8F8B35}"/>
              </a:ext>
            </a:extLst>
          </p:cNvPr>
          <p:cNvSpPr>
            <a:spLocks xmlns:a="http://schemas.openxmlformats.org/drawingml/2006/main" noGrp="1"/>
          </p:cNvSpPr>
          <p:nvPr/>
        </p:nvSpPr>
        <p:spPr>
          <a:xfrm xmlns:a="http://schemas.openxmlformats.org/drawingml/2006/main">
            <a:off x="6324600" y="35242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Model</a:t>
            </a:r>
          </a:p>
        </p:txBody>
      </p:sp>
      <p:sp>
        <p:nvSpPr>
          <p:cNvPr id="16" name="">
            <a:extLst xmlns:a="http://schemas.openxmlformats.org/drawingml/2006/main">
              <a:ext uri="{FF2B5EF4-FFF2-40B4-BE49-F238E27FC236}">
                <a16:creationId xmlns:a16="http://schemas.microsoft.com/office/drawing/2014/main" id="{A9748FFB-2E33-448C-A961-938EC8A7600B}"/>
              </a:ext>
            </a:extLst>
          </p:cNvPr>
          <p:cNvSpPr>
            <a:spLocks xmlns:a="http://schemas.openxmlformats.org/drawingml/2006/main" noGrp="1"/>
          </p:cNvSpPr>
          <p:nvPr/>
        </p:nvSpPr>
        <p:spPr>
          <a:xfrm xmlns:a="http://schemas.openxmlformats.org/drawingml/2006/main">
            <a:off x="7639050" y="348615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7211C"/>
                </a:solidFill>
                <a:latin typeface="Aptos"/>
                <a:ea typeface="Aptos"/>
                <a:cs typeface="Aptos"/>
              </a:defRPr>
            </a:pPr>
            <a:r>
              <a:rPr sz="1013" b="1">
                <a:solidFill>
                  <a:srgbClr val="17211C"/>
                </a:solidFill>
                <a:latin typeface="Aptos"/>
                <a:ea typeface="Aptos"/>
                <a:cs typeface="Aptos"/>
              </a:rPr>
              <a:t>Do you want local presence, partners, or a combined model with NORC?</a:t>
            </a:r>
          </a:p>
        </p:txBody>
      </p:sp>
      <p:sp>
        <p:nvSpPr>
          <p:cNvPr id="17" name="">
            <a:extLst xmlns:a="http://schemas.openxmlformats.org/drawingml/2006/main">
              <a:ext uri="{FF2B5EF4-FFF2-40B4-BE49-F238E27FC236}">
                <a16:creationId xmlns:a16="http://schemas.microsoft.com/office/drawing/2014/main" id="{AEFB88C7-8802-41FC-B68D-731B562C1CAF}"/>
              </a:ext>
            </a:extLst>
          </p:cNvPr>
          <p:cNvSpPr>
            <a:spLocks xmlns:a="http://schemas.openxmlformats.org/drawingml/2006/main" noGrp="1"/>
          </p:cNvSpPr>
          <p:nvPr/>
        </p:nvSpPr>
        <p:spPr>
          <a:xfrm xmlns:a="http://schemas.openxmlformats.org/drawingml/2006/main">
            <a:off x="819150" y="4476750"/>
            <a:ext cx="44767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18" name="">
            <a:extLst xmlns:a="http://schemas.openxmlformats.org/drawingml/2006/main">
              <a:ext uri="{FF2B5EF4-FFF2-40B4-BE49-F238E27FC236}">
                <a16:creationId xmlns:a16="http://schemas.microsoft.com/office/drawing/2014/main" id="{BB0903E0-D28A-42F9-8BD8-205E3B29898F}"/>
              </a:ext>
            </a:extLst>
          </p:cNvPr>
          <p:cNvSpPr>
            <a:spLocks xmlns:a="http://schemas.openxmlformats.org/drawingml/2006/main" noGrp="1"/>
          </p:cNvSpPr>
          <p:nvPr/>
        </p:nvSpPr>
        <p:spPr>
          <a:xfrm xmlns:a="http://schemas.openxmlformats.org/drawingml/2006/main">
            <a:off x="990600" y="4629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Investment</a:t>
            </a:r>
          </a:p>
        </p:txBody>
      </p:sp>
      <p:sp>
        <p:nvSpPr>
          <p:cNvPr id="19" name="">
            <a:extLst xmlns:a="http://schemas.openxmlformats.org/drawingml/2006/main">
              <a:ext uri="{FF2B5EF4-FFF2-40B4-BE49-F238E27FC236}">
                <a16:creationId xmlns:a16="http://schemas.microsoft.com/office/drawing/2014/main" id="{79F5C718-8F3B-43AB-8827-D7F33DDED1B7}"/>
              </a:ext>
            </a:extLst>
          </p:cNvPr>
          <p:cNvSpPr>
            <a:spLocks xmlns:a="http://schemas.openxmlformats.org/drawingml/2006/main" noGrp="1"/>
          </p:cNvSpPr>
          <p:nvPr/>
        </p:nvSpPr>
        <p:spPr>
          <a:xfrm xmlns:a="http://schemas.openxmlformats.org/drawingml/2006/main">
            <a:off x="2305050" y="459105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7211C"/>
                </a:solidFill>
                <a:latin typeface="Aptos"/>
                <a:ea typeface="Aptos"/>
                <a:cs typeface="Aptos"/>
              </a:defRPr>
            </a:pPr>
            <a:r>
              <a:rPr sz="1013" b="1">
                <a:solidFill>
                  <a:srgbClr val="17211C"/>
                </a:solidFill>
                <a:latin typeface="Aptos"/>
                <a:ea typeface="Aptos"/>
                <a:cs typeface="Aptos"/>
              </a:rPr>
              <a:t>What are you prepared to invest in serious market entry over the first 6-12 months?</a:t>
            </a:r>
          </a:p>
        </p:txBody>
      </p:sp>
      <p:sp>
        <p:nvSpPr>
          <p:cNvPr id="20" name="">
            <a:extLst xmlns:a="http://schemas.openxmlformats.org/drawingml/2006/main">
              <a:ext uri="{FF2B5EF4-FFF2-40B4-BE49-F238E27FC236}">
                <a16:creationId xmlns:a16="http://schemas.microsoft.com/office/drawing/2014/main" id="{190DCF08-1915-47E5-8E7F-8C867CEAAAE2}"/>
              </a:ext>
            </a:extLst>
          </p:cNvPr>
          <p:cNvSpPr>
            <a:spLocks xmlns:a="http://schemas.openxmlformats.org/drawingml/2006/main" noGrp="1"/>
          </p:cNvSpPr>
          <p:nvPr/>
        </p:nvSpPr>
        <p:spPr>
          <a:xfrm xmlns:a="http://schemas.openxmlformats.org/drawingml/2006/main">
            <a:off x="6153150" y="4476750"/>
            <a:ext cx="4476750" cy="78105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D8D0C2"/>
            </a:solidFill>
            <a:prstDash val="solid"/>
          </a:ln>
        </p:spPr>
      </p:sp>
      <p:sp>
        <p:nvSpPr>
          <p:cNvPr id="21" name="">
            <a:extLst xmlns:a="http://schemas.openxmlformats.org/drawingml/2006/main">
              <a:ext uri="{FF2B5EF4-FFF2-40B4-BE49-F238E27FC236}">
                <a16:creationId xmlns:a16="http://schemas.microsoft.com/office/drawing/2014/main" id="{C9B5A0B9-B4B2-4BBE-9170-46C1DB24C848}"/>
              </a:ext>
            </a:extLst>
          </p:cNvPr>
          <p:cNvSpPr>
            <a:spLocks xmlns:a="http://schemas.openxmlformats.org/drawingml/2006/main" noGrp="1"/>
          </p:cNvSpPr>
          <p:nvPr/>
        </p:nvSpPr>
        <p:spPr>
          <a:xfrm xmlns:a="http://schemas.openxmlformats.org/drawingml/2006/main">
            <a:off x="6324600" y="4629150"/>
            <a:ext cx="1200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56A3A"/>
                </a:solidFill>
                <a:latin typeface="Aptos Mono"/>
                <a:ea typeface="Aptos Mono"/>
                <a:cs typeface="Aptos Mono"/>
              </a:defRPr>
            </a:pPr>
            <a:r>
              <a:rPr sz="900" b="1">
                <a:solidFill>
                  <a:srgbClr val="B56A3A"/>
                </a:solidFill>
                <a:latin typeface="Aptos Mono"/>
                <a:ea typeface="Aptos Mono"/>
                <a:cs typeface="Aptos Mono"/>
              </a:rPr>
              <a:t>Success</a:t>
            </a:r>
          </a:p>
        </p:txBody>
      </p:sp>
      <p:sp>
        <p:nvSpPr>
          <p:cNvPr id="22" name="">
            <a:extLst xmlns:a="http://schemas.openxmlformats.org/drawingml/2006/main">
              <a:ext uri="{FF2B5EF4-FFF2-40B4-BE49-F238E27FC236}">
                <a16:creationId xmlns:a16="http://schemas.microsoft.com/office/drawing/2014/main" id="{D617A9CE-8BCC-4125-B891-07762BD3B1BC}"/>
              </a:ext>
            </a:extLst>
          </p:cNvPr>
          <p:cNvSpPr>
            <a:spLocks xmlns:a="http://schemas.openxmlformats.org/drawingml/2006/main" noGrp="1"/>
          </p:cNvSpPr>
          <p:nvPr/>
        </p:nvSpPr>
        <p:spPr>
          <a:xfrm xmlns:a="http://schemas.openxmlformats.org/drawingml/2006/main">
            <a:off x="7639050" y="4591050"/>
            <a:ext cx="266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17211C"/>
                </a:solidFill>
                <a:latin typeface="Aptos"/>
                <a:ea typeface="Aptos"/>
                <a:cs typeface="Aptos"/>
              </a:defRPr>
            </a:pPr>
            <a:r>
              <a:rPr sz="1013" b="1">
                <a:solidFill>
                  <a:srgbClr val="17211C"/>
                </a:solidFill>
                <a:latin typeface="Aptos"/>
                <a:ea typeface="Aptos"/>
                <a:cs typeface="Aptos"/>
              </a:rPr>
              <a:t>What would you consider a successful first step after this meeting?</a:t>
            </a:r>
          </a:p>
        </p:txBody>
      </p:sp>
      <p:sp>
        <p:nvSpPr>
          <p:cNvPr id="23" name="">
            <a:extLst xmlns:a="http://schemas.openxmlformats.org/drawingml/2006/main">
              <a:ext uri="{FF2B5EF4-FFF2-40B4-BE49-F238E27FC236}">
                <a16:creationId xmlns:a16="http://schemas.microsoft.com/office/drawing/2014/main" id="{41DAABA5-5C64-47E9-B3C5-5F7BCB87CDF6}"/>
              </a:ext>
            </a:extLst>
          </p:cNvPr>
          <p:cNvSpPr>
            <a:spLocks xmlns:a="http://schemas.openxmlformats.org/drawingml/2006/main" noGrp="1"/>
          </p:cNvSpPr>
          <p:nvPr/>
        </p:nvSpPr>
        <p:spPr>
          <a:xfrm xmlns:a="http://schemas.openxmlformats.org/drawingml/2006/main">
            <a:off x="819150" y="5695950"/>
            <a:ext cx="98107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EFF5BC69-0557-4119-9B15-E3EC88BF3346}"/>
              </a:ext>
            </a:extLst>
          </p:cNvPr>
          <p:cNvSpPr>
            <a:spLocks xmlns:a="http://schemas.openxmlformats.org/drawingml/2006/main" noGrp="1"/>
          </p:cNvSpPr>
          <p:nvPr/>
        </p:nvSpPr>
        <p:spPr>
          <a:xfrm xmlns:a="http://schemas.openxmlformats.org/drawingml/2006/main">
            <a:off x="1104900" y="5905500"/>
            <a:ext cx="8858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657066"/>
                </a:solidFill>
                <a:latin typeface="Aptos"/>
                <a:ea typeface="Aptos"/>
                <a:cs typeface="Aptos"/>
              </a:defRPr>
            </a:pPr>
            <a:r>
              <a:rPr sz="975" b="0">
                <a:solidFill>
                  <a:srgbClr val="657066"/>
                </a:solidFill>
                <a:latin typeface="Aptos"/>
                <a:ea typeface="Aptos"/>
                <a:cs typeface="Aptos"/>
              </a:rPr>
              <a:t>Listen especially for role expectations: strategic partner, market-entry partner, communication partner, lead-development partner or joint business-development partner.</a:t>
            </a:r>
          </a:p>
        </p:txBody>
      </p:sp>
      <p:sp>
        <p:nvSpPr>
          <p:cNvPr id="25" name="">
            <a:extLst xmlns:a="http://schemas.openxmlformats.org/drawingml/2006/main">
              <a:ext uri="{FF2B5EF4-FFF2-40B4-BE49-F238E27FC236}">
                <a16:creationId xmlns:a16="http://schemas.microsoft.com/office/drawing/2014/main" id="{C1BFF21F-A760-40C7-99B7-5F9168EFA306}"/>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2E7E47A5-0503-4DDA-BE2B-1F97E3B9F4E7}"/>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NORC x Team Neusta | Nordic market entry discussion</a:t>
            </a:r>
          </a:p>
        </p:txBody>
      </p:sp>
      <p:sp>
        <p:nvSpPr>
          <p:cNvPr id="27" name="">
            <a:extLst xmlns:a="http://schemas.openxmlformats.org/drawingml/2006/main">
              <a:ext uri="{FF2B5EF4-FFF2-40B4-BE49-F238E27FC236}">
                <a16:creationId xmlns:a16="http://schemas.microsoft.com/office/drawing/2014/main" id="{0A6CE194-4DA9-4042-9E6D-5AFC307563BB}"/>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09</a:t>
            </a:r>
          </a:p>
        </p:txBody>
      </p:sp>
    </p:spTree>
    <p:extLst>
      <p:ext uri="{BB962C8B-B14F-4D97-AF65-F5344CB8AC3E}">
        <p14:creationId xmlns:p14="http://schemas.microsoft.com/office/powerpoint/2010/main" val="175026686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FE8ABA-87D0-43CF-B992-615C666187E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02824"/>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4C2B1D-AC7D-41DB-B58E-EC5EAB0067BD}"/>
              </a:ext>
            </a:extLst>
          </p:cNvPr>
          <p:cNvSpPr>
            <a:spLocks xmlns:a="http://schemas.openxmlformats.org/drawingml/2006/main" noGrp="1"/>
          </p:cNvSpPr>
          <p:nvPr/>
        </p:nvSpPr>
        <p:spPr>
          <a:xfrm xmlns:a="http://schemas.openxmlformats.org/drawingml/2006/main">
            <a:off x="552450" y="571500"/>
            <a:ext cx="419100" cy="28575"/>
          </a:xfrm>
          <a:prstGeom xmlns:a="http://schemas.openxmlformats.org/drawingml/2006/main" prst="rect">
            <a:avLst/>
          </a:prstGeom>
          <a:solidFill xmlns:a="http://schemas.openxmlformats.org/drawingml/2006/main">
            <a:srgbClr val="8CB9C7"/>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D522EF9-BB1B-4EFB-BAA2-649450F4065D}"/>
              </a:ext>
            </a:extLst>
          </p:cNvPr>
          <p:cNvSpPr>
            <a:spLocks xmlns:a="http://schemas.openxmlformats.org/drawingml/2006/main" noGrp="1"/>
          </p:cNvSpPr>
          <p:nvPr/>
        </p:nvSpPr>
        <p:spPr>
          <a:xfrm xmlns:a="http://schemas.openxmlformats.org/drawingml/2006/main">
            <a:off x="1104900" y="485775"/>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750" b="1">
                <a:solidFill>
                  <a:srgbClr val="C8D6D8"/>
                </a:solidFill>
                <a:latin typeface="Aptos Mono"/>
                <a:ea typeface="Aptos Mono"/>
                <a:cs typeface="Aptos Mono"/>
              </a:defRPr>
            </a:pPr>
            <a:r>
              <a:rPr sz="750" b="1">
                <a:solidFill>
                  <a:srgbClr val="C8D6D8"/>
                </a:solidFill>
                <a:latin typeface="Aptos Mono"/>
                <a:ea typeface="Aptos Mono"/>
                <a:cs typeface="Aptos Mono"/>
              </a:rPr>
              <a:t>CLOSE</a:t>
            </a:r>
          </a:p>
        </p:txBody>
      </p:sp>
      <p:sp>
        <p:nvSpPr>
          <p:cNvPr id="4" name="">
            <a:extLst xmlns:a="http://schemas.openxmlformats.org/drawingml/2006/main">
              <a:ext uri="{FF2B5EF4-FFF2-40B4-BE49-F238E27FC236}">
                <a16:creationId xmlns:a16="http://schemas.microsoft.com/office/drawing/2014/main" id="{3A2B9B2B-D8AB-49CE-99C2-32A6902ADB7C}"/>
              </a:ext>
            </a:extLst>
          </p:cNvPr>
          <p:cNvSpPr>
            <a:spLocks xmlns:a="http://schemas.openxmlformats.org/drawingml/2006/main" noGrp="1"/>
          </p:cNvSpPr>
          <p:nvPr/>
        </p:nvSpPr>
        <p:spPr>
          <a:xfrm xmlns:a="http://schemas.openxmlformats.org/drawingml/2006/main">
            <a:off x="666750" y="1238250"/>
            <a:ext cx="78105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If Team Neusta wants to enter the Nordics seriously, the next move is a paid pilot with NORC at the strategy table.</a:t>
            </a:r>
          </a:p>
        </p:txBody>
      </p:sp>
      <p:sp>
        <p:nvSpPr>
          <p:cNvPr id="5" name="">
            <a:extLst xmlns:a="http://schemas.openxmlformats.org/drawingml/2006/main">
              <a:ext uri="{FF2B5EF4-FFF2-40B4-BE49-F238E27FC236}">
                <a16:creationId xmlns:a16="http://schemas.microsoft.com/office/drawing/2014/main" id="{91331C75-E6AC-49A8-A596-524CB6484FA7}"/>
              </a:ext>
            </a:extLst>
          </p:cNvPr>
          <p:cNvSpPr>
            <a:spLocks xmlns:a="http://schemas.openxmlformats.org/drawingml/2006/main" noGrp="1"/>
          </p:cNvSpPr>
          <p:nvPr/>
        </p:nvSpPr>
        <p:spPr>
          <a:xfrm xmlns:a="http://schemas.openxmlformats.org/drawingml/2006/main">
            <a:off x="704850" y="3181350"/>
            <a:ext cx="2857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CB9C7"/>
                </a:solidFill>
                <a:latin typeface="Aptos Mono"/>
                <a:ea typeface="Aptos Mono"/>
                <a:cs typeface="Aptos Mono"/>
              </a:defRPr>
            </a:pPr>
            <a:r>
              <a:rPr sz="825" b="1">
                <a:solidFill>
                  <a:srgbClr val="8CB9C7"/>
                </a:solidFill>
                <a:latin typeface="Aptos Mono"/>
                <a:ea typeface="Aptos Mono"/>
                <a:cs typeface="Aptos Mono"/>
              </a:rPr>
              <a:t>Suggested closing language</a:t>
            </a:r>
          </a:p>
        </p:txBody>
      </p:sp>
      <p:sp>
        <p:nvSpPr>
          <p:cNvPr id="6" name="">
            <a:extLst xmlns:a="http://schemas.openxmlformats.org/drawingml/2006/main">
              <a:ext uri="{FF2B5EF4-FFF2-40B4-BE49-F238E27FC236}">
                <a16:creationId xmlns:a16="http://schemas.microsoft.com/office/drawing/2014/main" id="{033B2800-0425-4DF9-9E71-A948B13E599B}"/>
              </a:ext>
            </a:extLst>
          </p:cNvPr>
          <p:cNvSpPr>
            <a:spLocks xmlns:a="http://schemas.openxmlformats.org/drawingml/2006/main" noGrp="1"/>
          </p:cNvSpPr>
          <p:nvPr/>
        </p:nvSpPr>
        <p:spPr>
          <a:xfrm xmlns:a="http://schemas.openxmlformats.org/drawingml/2006/main">
            <a:off x="704850" y="3562350"/>
            <a:ext cx="6381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4F1EA"/>
                </a:solidFill>
                <a:latin typeface="Aptos Display"/>
                <a:ea typeface="Aptos Display"/>
                <a:cs typeface="Aptos Display"/>
              </a:defRPr>
            </a:pPr>
            <a:r>
              <a:rPr sz="1500" b="1">
                <a:solidFill>
                  <a:srgbClr val="F4F1EA"/>
                </a:solidFill>
                <a:latin typeface="Aptos Display"/>
                <a:ea typeface="Aptos Display"/>
                <a:cs typeface="Aptos Display"/>
              </a:rPr>
              <a:t>We can help you enter the Nordic market, but the highest value comes when we are involved early in positioning, packaging and market understanding. If we are brought in only after the sales material is finished, the value is much smaller.</a:t>
            </a:r>
          </a:p>
        </p:txBody>
      </p:sp>
      <p:sp>
        <p:nvSpPr>
          <p:cNvPr id="7" name="">
            <a:extLst xmlns:a="http://schemas.openxmlformats.org/drawingml/2006/main">
              <a:ext uri="{FF2B5EF4-FFF2-40B4-BE49-F238E27FC236}">
                <a16:creationId xmlns:a16="http://schemas.microsoft.com/office/drawing/2014/main" id="{732C0E1C-4B9C-42EC-A0AB-3A9BEDC06ABB}"/>
              </a:ext>
            </a:extLst>
          </p:cNvPr>
          <p:cNvSpPr>
            <a:spLocks xmlns:a="http://schemas.openxmlformats.org/drawingml/2006/main" noGrp="1"/>
          </p:cNvSpPr>
          <p:nvPr/>
        </p:nvSpPr>
        <p:spPr>
          <a:xfrm xmlns:a="http://schemas.openxmlformats.org/drawingml/2006/main">
            <a:off x="7953375" y="3105150"/>
            <a:ext cx="2857500" cy="1962150"/>
          </a:xfrm>
          <a:prstGeom xmlns:a="http://schemas.openxmlformats.org/drawingml/2006/main" prst="rect">
            <a:avLst/>
          </a:prstGeom>
          <a:solidFill xmlns:a="http://schemas.openxmlformats.org/drawingml/2006/main">
            <a:srgbClr val="2C373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05D78E2-173A-48D9-BBC1-62D550939B41}"/>
              </a:ext>
            </a:extLst>
          </p:cNvPr>
          <p:cNvSpPr>
            <a:spLocks xmlns:a="http://schemas.openxmlformats.org/drawingml/2006/main" noGrp="1"/>
          </p:cNvSpPr>
          <p:nvPr/>
        </p:nvSpPr>
        <p:spPr>
          <a:xfrm xmlns:a="http://schemas.openxmlformats.org/drawingml/2006/main">
            <a:off x="8172450" y="33337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8CB9C7"/>
                </a:solidFill>
                <a:latin typeface="Aptos Mono"/>
                <a:ea typeface="Aptos Mono"/>
                <a:cs typeface="Aptos Mono"/>
              </a:defRPr>
            </a:pPr>
            <a:r>
              <a:rPr sz="825" b="1">
                <a:solidFill>
                  <a:srgbClr val="8CB9C7"/>
                </a:solidFill>
                <a:latin typeface="Aptos Mono"/>
                <a:ea typeface="Aptos Mono"/>
                <a:cs typeface="Aptos Mono"/>
              </a:rPr>
              <a:t>Decision to ask for</a:t>
            </a:r>
          </a:p>
        </p:txBody>
      </p:sp>
      <p:sp>
        <p:nvSpPr>
          <p:cNvPr id="9" name="">
            <a:extLst xmlns:a="http://schemas.openxmlformats.org/drawingml/2006/main">
              <a:ext uri="{FF2B5EF4-FFF2-40B4-BE49-F238E27FC236}">
                <a16:creationId xmlns:a16="http://schemas.microsoft.com/office/drawing/2014/main" id="{A0935454-E0B4-4D8F-B1FD-9E739F28B3DF}"/>
              </a:ext>
            </a:extLst>
          </p:cNvPr>
          <p:cNvSpPr>
            <a:spLocks xmlns:a="http://schemas.openxmlformats.org/drawingml/2006/main" noGrp="1"/>
          </p:cNvSpPr>
          <p:nvPr/>
        </p:nvSpPr>
        <p:spPr>
          <a:xfrm xmlns:a="http://schemas.openxmlformats.org/drawingml/2006/main">
            <a:off x="8172450" y="3676650"/>
            <a:ext cx="209550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ptos Display"/>
                <a:ea typeface="Aptos Display"/>
                <a:cs typeface="Aptos Display"/>
              </a:defRPr>
            </a:pPr>
            <a:r>
              <a:rPr sz="1425" b="1">
                <a:solidFill>
                  <a:srgbClr val="FFFFFF"/>
                </a:solidFill>
                <a:latin typeface="Aptos Display"/>
                <a:ea typeface="Aptos Display"/>
                <a:cs typeface="Aptos Display"/>
              </a:rPr>
              <a:t>Agree a 90-day pilot scope, owner group and commercial proposal as the concrete next step.</a:t>
            </a:r>
          </a:p>
        </p:txBody>
      </p:sp>
      <p:sp>
        <p:nvSpPr>
          <p:cNvPr id="10" name="">
            <a:extLst xmlns:a="http://schemas.openxmlformats.org/drawingml/2006/main">
              <a:ext uri="{FF2B5EF4-FFF2-40B4-BE49-F238E27FC236}">
                <a16:creationId xmlns:a16="http://schemas.microsoft.com/office/drawing/2014/main" id="{C130E4C3-37DD-49E3-944B-1082B25590AB}"/>
              </a:ext>
            </a:extLst>
          </p:cNvPr>
          <p:cNvSpPr>
            <a:spLocks xmlns:a="http://schemas.openxmlformats.org/drawingml/2006/main" noGrp="1"/>
          </p:cNvSpPr>
          <p:nvPr/>
        </p:nvSpPr>
        <p:spPr>
          <a:xfrm xmlns:a="http://schemas.openxmlformats.org/drawingml/2006/main">
            <a:off x="704850" y="5314950"/>
            <a:ext cx="9906000" cy="9525"/>
          </a:xfrm>
          <a:prstGeom xmlns:a="http://schemas.openxmlformats.org/drawingml/2006/main" prst="rect">
            <a:avLst/>
          </a:prstGeom>
          <a:solidFill xmlns:a="http://schemas.openxmlformats.org/drawingml/2006/main">
            <a:srgbClr val="4B5751"/>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D5609A9-763B-4A62-8378-969B22595DA9}"/>
              </a:ext>
            </a:extLst>
          </p:cNvPr>
          <p:cNvSpPr>
            <a:spLocks xmlns:a="http://schemas.openxmlformats.org/drawingml/2006/main" noGrp="1"/>
          </p:cNvSpPr>
          <p:nvPr/>
        </p:nvSpPr>
        <p:spPr>
          <a:xfrm xmlns:a="http://schemas.openxmlformats.org/drawingml/2006/main">
            <a:off x="704850" y="5562600"/>
            <a:ext cx="90011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7DDD9"/>
                </a:solidFill>
                <a:latin typeface="Aptos"/>
                <a:ea typeface="Aptos"/>
                <a:cs typeface="Aptos"/>
              </a:defRPr>
            </a:pPr>
            <a:r>
              <a:rPr sz="975" b="0">
                <a:solidFill>
                  <a:srgbClr val="D7DDD9"/>
                </a:solidFill>
                <a:latin typeface="Aptos"/>
                <a:ea typeface="Aptos"/>
                <a:cs typeface="Aptos"/>
              </a:rPr>
              <a:t>Proposed follow-up: NORC sends a short pilot proposal within 3 working days after receiving Team Neusta's priority sectors and Nordic ambition level.</a:t>
            </a:r>
          </a:p>
        </p:txBody>
      </p:sp>
      <p:sp>
        <p:nvSpPr>
          <p:cNvPr id="12" name="">
            <a:extLst xmlns:a="http://schemas.openxmlformats.org/drawingml/2006/main">
              <a:ext uri="{FF2B5EF4-FFF2-40B4-BE49-F238E27FC236}">
                <a16:creationId xmlns:a16="http://schemas.microsoft.com/office/drawing/2014/main" id="{CD72AC7D-367A-43C4-8C90-A33301A2B5C7}"/>
              </a:ext>
            </a:extLst>
          </p:cNvPr>
          <p:cNvSpPr>
            <a:spLocks xmlns:a="http://schemas.openxmlformats.org/drawingml/2006/main" noGrp="1"/>
          </p:cNvSpPr>
          <p:nvPr/>
        </p:nvSpPr>
        <p:spPr>
          <a:xfrm xmlns:a="http://schemas.openxmlformats.org/drawingml/2006/main">
            <a:off x="552450" y="6343650"/>
            <a:ext cx="1000125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E6168C9-F2DC-474A-ABA3-1D21C7043AD6}"/>
              </a:ext>
            </a:extLst>
          </p:cNvPr>
          <p:cNvSpPr>
            <a:spLocks xmlns:a="http://schemas.openxmlformats.org/drawingml/2006/main" noGrp="1"/>
          </p:cNvSpPr>
          <p:nvPr/>
        </p:nvSpPr>
        <p:spPr>
          <a:xfrm xmlns:a="http://schemas.openxmlformats.org/drawingml/2006/main">
            <a:off x="55245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57066"/>
                </a:solidFill>
                <a:latin typeface="Aptos"/>
                <a:ea typeface="Aptos"/>
                <a:cs typeface="Aptos"/>
              </a:defRPr>
            </a:pPr>
            <a:r>
              <a:rPr sz="638" b="0">
                <a:solidFill>
                  <a:srgbClr val="657066"/>
                </a:solidFill>
                <a:latin typeface="Aptos"/>
                <a:ea typeface="Aptos"/>
                <a:cs typeface="Aptos"/>
              </a:rPr>
              <a:t>Sources: NORC meeting brief and verified public sources listed in source notes</a:t>
            </a:r>
          </a:p>
        </p:txBody>
      </p:sp>
      <p:sp>
        <p:nvSpPr>
          <p:cNvPr id="14" name="">
            <a:extLst xmlns:a="http://schemas.openxmlformats.org/drawingml/2006/main">
              <a:ext uri="{FF2B5EF4-FFF2-40B4-BE49-F238E27FC236}">
                <a16:creationId xmlns:a16="http://schemas.microsoft.com/office/drawing/2014/main" id="{A000BFD2-A01D-4593-9108-78A9E82D9FBA}"/>
              </a:ext>
            </a:extLst>
          </p:cNvPr>
          <p:cNvSpPr>
            <a:spLocks xmlns:a="http://schemas.openxmlformats.org/drawingml/2006/main" noGrp="1"/>
          </p:cNvSpPr>
          <p:nvPr/>
        </p:nvSpPr>
        <p:spPr>
          <a:xfrm xmlns:a="http://schemas.openxmlformats.org/drawingml/2006/main">
            <a:off x="10953750" y="6438900"/>
            <a:ext cx="457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57066"/>
                </a:solidFill>
                <a:latin typeface="Aptos Mono"/>
                <a:ea typeface="Aptos Mono"/>
                <a:cs typeface="Aptos Mono"/>
              </a:defRPr>
            </a:pPr>
            <a:r>
              <a:rPr sz="750" b="0">
                <a:solidFill>
                  <a:srgbClr val="657066"/>
                </a:solidFill>
                <a:latin typeface="Aptos Mono"/>
                <a:ea typeface="Aptos Mono"/>
                <a:cs typeface="Aptos Mono"/>
              </a:rPr>
              <a:t>10</a:t>
            </a:r>
          </a:p>
        </p:txBody>
      </p:sp>
    </p:spTree>
    <p:extLst>
      <p:ext uri="{BB962C8B-B14F-4D97-AF65-F5344CB8AC3E}">
        <p14:creationId xmlns:p14="http://schemas.microsoft.com/office/powerpoint/2010/main" val="1669421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2026-05-04T08:05:20.8730000Z</dcterms:created>
  <dcterms:modified xsi:type="dcterms:W3CDTF">2026-05-04T08:05:20.8730000Z</dcterms:modified>
</coreProperties>
</file>