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90d7dc02d44394" /><Relationship Type="http://schemas.openxmlformats.org/officeDocument/2006/relationships/extended-properties" Target="/docProps/app.xml" Id="R4caecf1b57c646b1" /><Relationship Type="http://schemas.openxmlformats.org/officeDocument/2006/relationships/officeDocument" Target="/ppt/presentation.xml" Id="R108571221e724a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17e94bce5d4934"/>
  </p:sldMasterIdLst>
  <p:notesMasterIdLst>
    <p:notesMasterId xmlns:r="http://schemas.openxmlformats.org/officeDocument/2006/relationships" r:id="Ra492e58db1e949cf"/>
  </p:notesMasterIdLst>
  <p:sldIdLst>
    <p:sldId xmlns:r="http://schemas.openxmlformats.org/officeDocument/2006/relationships" id="256" r:id="R9942f97fc7174f0c"/>
    <p:sldId xmlns:r="http://schemas.openxmlformats.org/officeDocument/2006/relationships" id="257" r:id="Rd715065daf494a37"/>
    <p:sldId xmlns:r="http://schemas.openxmlformats.org/officeDocument/2006/relationships" id="258" r:id="R418ba7bf121f49b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7e94bce5d4934" /><Relationship Type="http://schemas.openxmlformats.org/officeDocument/2006/relationships/theme" Target="/ppt/theme/theme1.xml" Id="R97e4356524614a51" /><Relationship Type="http://schemas.openxmlformats.org/officeDocument/2006/relationships/notesMaster" Target="/ppt/notesMasters/notesMaster1.xml" Id="Ra492e58db1e949cf" /><Relationship Type="http://schemas.openxmlformats.org/officeDocument/2006/relationships/presProps" Target="/ppt/presProps.xml" Id="R0ab20140e9d8468a" /><Relationship Type="http://schemas.openxmlformats.org/officeDocument/2006/relationships/viewProps" Target="/ppt/viewProps.xml" Id="Ra42842da4afd4e8a" /><Relationship Type="http://schemas.openxmlformats.org/officeDocument/2006/relationships/tableStyles" Target="/ppt/tableStyles.xml" Id="R750cb635f6114cf2" /><Relationship Type="http://schemas.openxmlformats.org/officeDocument/2006/relationships/slide" Target="/ppt/slides/slide1.xml" Id="R9942f97fc7174f0c" /><Relationship Type="http://schemas.openxmlformats.org/officeDocument/2006/relationships/slide" Target="/ppt/slides/slide2.xml" Id="Rd715065daf494a37" /><Relationship Type="http://schemas.openxmlformats.org/officeDocument/2006/relationships/slide" Target="/ppt/slides/slide3.xml" Id="R418ba7bf121f49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5218e446cc747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8fd4ce95194c41" /><Relationship Type="http://schemas.openxmlformats.org/officeDocument/2006/relationships/notesMaster" Target="/ppt/notesMasters/notesMaster1.xml" Id="R7a07fcfcc6cb4f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be4fb20cd94215" /><Relationship Type="http://schemas.openxmlformats.org/officeDocument/2006/relationships/notesMaster" Target="/ppt/notesMasters/notesMaster1.xml" Id="Ra43a851541664d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f9e2cfbeea4129" /><Relationship Type="http://schemas.openxmlformats.org/officeDocument/2006/relationships/notesMaster" Target="/ppt/notesMasters/notesMaster1.xml" Id="Reb15d8a919dc4c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538ca5d23476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5620ea99886d4f23" /><Relationship Type="http://schemas.openxmlformats.org/officeDocument/2006/relationships/slideLayout" Target="/ppt/slideLayouts/slideLayout2.xml" Id="R038919e7d17142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8919e7d17142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bf330615d642e5" /><Relationship Type="http://schemas.openxmlformats.org/officeDocument/2006/relationships/image" Target="/ppt/media/image.png" Id="Re0be9329a12a4c1e" /><Relationship Type="http://schemas.openxmlformats.org/officeDocument/2006/relationships/notesSlide" Target="/ppt/notesSlides/notesSlide1.xml" Id="R92622945d8b54e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588e8e14f54f31" /><Relationship Type="http://schemas.openxmlformats.org/officeDocument/2006/relationships/notesSlide" Target="/ppt/notesSlides/notesSlide2.xml" Id="Rdf87c10f80ab4d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0ee9a193f14e6c" /><Relationship Type="http://schemas.openxmlformats.org/officeDocument/2006/relationships/notesSlide" Target="/ppt/notesSlides/notesSlide3.xml" Id="R67decc4d32294b3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be9329a12a4c1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EF90E3-C4B4-4E74-9EEB-A9386D6B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1820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4C189-EBFD-4A09-8649-96DAAFAA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094FD3-A372-41DA-9A4D-23C00942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5C1172-4048-422B-8D76-4C0BD1CA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EBEC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AEBEC2"/>
                </a:solidFill>
                <a:latin typeface="Aptos Mono"/>
                <a:ea typeface="Aptos Mono"/>
                <a:cs typeface="Aptos Mono"/>
              </a:rPr>
              <a:t>NORDIC TRUST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2E7AE-163E-47BC-B2FF-14910851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1912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NORC understands the Nordic market —</a:t>
            </a:r>
          </a:p>
          <a:p xmlns:a="http://schemas.openxmlformats.org/drawingml/2006/main">
            <a:pPr algn="l">
              <a:defRPr sz="285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and what builds trust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93AD5-1F02-4C5D-A6B6-F7EB2047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572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Team Neusta has the capacity. NORC makes it understandable, relevant and credible in Sweden and the Nordics.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D6D12C-0284-4869-917A-CD0D8099E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143000"/>
            <a:ext cx="4000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1B22">
              <a:alpha val="90196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0AE0DF-6CD3-46A6-BD21-B9EE75D3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002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10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D10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0770B-1232-488A-A4BE-5BE978FE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811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Trust first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EF561-9CD5-49F0-9620-31C21BC9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43100"/>
            <a:ext cx="2590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EBEC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EBEC2"/>
                </a:solidFill>
                <a:latin typeface="Aptos"/>
                <a:ea typeface="Aptos"/>
                <a:cs typeface="Aptos"/>
              </a:rPr>
              <a:t>Nordic decision-makers buy trust before they buy transformation.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F2047-8F73-4776-89F7-678A92A5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194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10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D10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95FC83-3D71-4E54-BE4C-40EE2DCC1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Market sense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86F72-345B-4818-8E10-79319298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62300"/>
            <a:ext cx="2590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EBEC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EBEC2"/>
                </a:solidFill>
                <a:latin typeface="Aptos"/>
                <a:ea typeface="Aptos"/>
                <a:cs typeface="Aptos"/>
              </a:rPr>
              <a:t>We understand how brands, organisations and people work here.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3C1486-5934-4455-B1CF-06C186A6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3860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10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D10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FEBFBE-502B-40CF-A614-81D1255E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19550"/>
            <a:ext cx="2590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Clear conversations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209A43-1571-4CBA-B37E-19AEA975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81500"/>
            <a:ext cx="2590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EBEC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EBEC2"/>
                </a:solidFill>
                <a:latin typeface="Aptos"/>
                <a:ea typeface="Aptos"/>
                <a:cs typeface="Aptos"/>
              </a:rPr>
              <a:t>We turn complex offers into clear positions, meaningful narratives and credible conversations.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A1BD6-CEEC-4A45-86EF-9E0C2921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B4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9FB0B4"/>
                </a:solidFill>
                <a:latin typeface="Aptos Mono"/>
                <a:ea typeface="Aptos Mono"/>
                <a:cs typeface="Aptos Mono"/>
              </a:rPr>
              <a:t>NORC x Team Neusta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5338E-663C-480D-83E5-36B15944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FB0B4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9FB0B4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079041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19CD85-DC76-4121-8D38-C5059D23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A5382E-4362-4E47-9E57-B8D0B47E6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3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E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E93CAF-5E7F-48FB-8365-F8B33B85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23950"/>
            <a:ext cx="1010412" cy="10104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6D6BF8-E7F9-4B47-AB66-36A70F6B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599" y="1272540"/>
            <a:ext cx="683514" cy="6835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23" b="0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2223" b="0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NO</a:t>
            </a:r>
          </a:p>
          <a:p xmlns:a="http://schemas.openxmlformats.org/drawingml/2006/main">
            <a:pPr algn="l">
              <a:defRPr sz="2223" b="0">
                <a:solidFill>
                  <a:srgbClr val="20242A"/>
                </a:solidFill>
                <a:latin typeface="Aptos Display"/>
                <a:ea typeface="Aptos Display"/>
                <a:cs typeface="Aptos Display"/>
              </a:defRPr>
            </a:pPr>
            <a:r>
              <a:rPr sz="2223" b="0">
                <a:solidFill>
                  <a:srgbClr val="20242A"/>
                </a:solidFill>
                <a:latin typeface="Aptos Display"/>
                <a:ea typeface="Aptos Display"/>
                <a:cs typeface="Aptos Display"/>
              </a:rPr>
              <a:t>RC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A212A4-2F60-4A62-966B-64B6E007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6381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764C87-F1AC-4B0D-958D-DD3AAA50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52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EBEC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AEBEC2"/>
                </a:solidFill>
                <a:latin typeface="Aptos Mono"/>
                <a:ea typeface="Aptos Mono"/>
                <a:cs typeface="Aptos Mono"/>
              </a:rPr>
              <a:t>NORC APPROACH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4CD81-1301-4F07-A6B1-A3767631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162050"/>
            <a:ext cx="5810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More than communication — we build meaning, relevance and resilience.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ED0EF6-E590-43DC-BE33-1665B338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285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We are not your standard-issue communication agency.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A62406-AADF-4725-AD5F-C348AB1E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3095D-D302-407A-B595-DC0730A4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EBEC2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AEBEC2"/>
                </a:solidFill>
                <a:latin typeface="Aptos Display"/>
                <a:ea typeface="Aptos Display"/>
                <a:cs typeface="Aptos Display"/>
              </a:rPr>
              <a:t>Communicate when it matters most.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29F274-403C-46C3-B613-5BB826B9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765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10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D10A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A047C-47EF-47BA-AE57-C18F844A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85750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Decades of experience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C82822-D493-4A2B-9868-EC8BBCAF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19450"/>
            <a:ext cx="449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EBEC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EBEC2"/>
                </a:solidFill>
                <a:latin typeface="Aptos"/>
                <a:ea typeface="Aptos"/>
                <a:cs typeface="Aptos"/>
              </a:rPr>
              <a:t>Brand, marketing, communication and strategic positioning.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402D85-D1CE-464E-96EF-BA4040EC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052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10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D10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1702BE-BEF2-4DD7-8B08-F3FA024F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8620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Brands that matter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E9990E-EA16-4FA4-9DEE-0E5B9D8C9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48150"/>
            <a:ext cx="449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EBEC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EBEC2"/>
                </a:solidFill>
                <a:latin typeface="Aptos"/>
                <a:ea typeface="Aptos"/>
                <a:cs typeface="Aptos"/>
              </a:rPr>
              <a:t>Connecting rational value with emotional relevance.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F618B3-2D6E-4624-9A6F-CCADDFA9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33950"/>
            <a:ext cx="34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D10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FD10A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6BF4CB-48CD-452E-890D-F0FA695B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14900"/>
            <a:ext cx="449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Clarity in complexity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F8A6D3-7DDF-4FAE-BB34-0366147A6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276850"/>
            <a:ext cx="4495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AEBEC2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AEBEC2"/>
                </a:solidFill>
                <a:latin typeface="Aptos"/>
                <a:ea typeface="Aptos"/>
                <a:cs typeface="Aptos"/>
              </a:rPr>
              <a:t>Helping organisations communicate with credibility in complex environments.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66F368-2061-48BB-89C0-5DF12F2A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B4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9FB0B4"/>
                </a:solidFill>
                <a:latin typeface="Aptos Mono"/>
                <a:ea typeface="Aptos Mono"/>
                <a:cs typeface="Aptos Mono"/>
              </a:rPr>
              <a:t>NORC x Team Neusta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9E5F94-D9FC-4BD3-8A78-D549C0C72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FB0B4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9FB0B4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645364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C6E5BE-757C-4CEA-83F3-656A9B234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41E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990AF-EC1B-4936-951E-CAFA254C0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57750"/>
            <a:ext cx="12192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3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7C1BAE-F631-4C29-96F1-A8451882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495BB-00CC-4ECD-9974-E4BE73B1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524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AEBEC2"/>
                </a:solidFill>
                <a:latin typeface="Aptos Mono"/>
                <a:ea typeface="Aptos Mono"/>
                <a:cs typeface="Aptos Mono"/>
              </a:defRPr>
            </a:pPr>
            <a:r>
              <a:rPr sz="750" b="1">
                <a:solidFill>
                  <a:srgbClr val="AEBEC2"/>
                </a:solidFill>
                <a:latin typeface="Aptos Mono"/>
                <a:ea typeface="Aptos Mono"/>
                <a:cs typeface="Aptos Mono"/>
              </a:rPr>
              <a:t>SHARED PURPOSE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24265-7974-43FB-BDFE-ECF6F669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429625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A shared European purpose: resilience, sustainability and democratic industry.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C9A25-86DD-4FE1-99B5-D2D31121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FE258-AB34-4514-8903-99BBF34DA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Resilient societies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DBA75-2417-46B6-9357-4CB8099E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E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EC2"/>
                </a:solidFill>
                <a:latin typeface="Aptos"/>
                <a:ea typeface="Aptos"/>
                <a:cs typeface="Aptos"/>
              </a:rPr>
              <a:t>Sustainable progress and industry-friendly transformation.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B5237-A8A5-4D8B-863D-42CB4DF8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C4C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C1156E-F7B3-4220-8A94-1206F409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Democratic strength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C2D54-88AA-485E-83EF-E83DA00F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290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E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EC2"/>
                </a:solidFill>
                <a:latin typeface="Aptos"/>
                <a:ea typeface="Aptos"/>
                <a:cs typeface="Aptos"/>
              </a:rPr>
              <a:t>A strong, open Sweden, Nordic region and Europe for future generations.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BD908-3430-44AE-A7F1-442AF14EC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289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0A4079-FEB7-4F61-8DD3-0C5C6E85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333750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Human value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66DC04-0E70-4E19-B8A6-4F3CB982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829050"/>
            <a:ext cx="2762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EC2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EC2"/>
                </a:solidFill>
                <a:latin typeface="Aptos"/>
                <a:ea typeface="Aptos"/>
                <a:cs typeface="Aptos"/>
              </a:rPr>
              <a:t>Meet external and internal threats without losing sight of innovation and enterprise.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7D863-5FD5-4A7D-9061-97297B60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9334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7F4EA"/>
                </a:solidFill>
                <a:latin typeface="Aptos Display"/>
                <a:ea typeface="Aptos Display"/>
                <a:cs typeface="Aptos Display"/>
              </a:rPr>
              <a:t>Team Neusta brings digital transformation capacity. NORC brings Nordic trust, relevance and strategic meaning. Together, we can help build a more resilient Nordic and European future.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300D4-CFD9-44C4-BC18-EF5849DA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25780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0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93528-B2BC-4879-B9B1-6D709FF7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9FB0B4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9FB0B4"/>
                </a:solidFill>
                <a:latin typeface="Aptos Mono"/>
                <a:ea typeface="Aptos Mono"/>
                <a:cs typeface="Aptos Mono"/>
              </a:rPr>
              <a:t>NORC x Team Neusta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E970AC-8303-4242-92C5-04380B11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817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9FB0B4"/>
                </a:solidFill>
                <a:latin typeface="Aptos Mono"/>
                <a:ea typeface="Aptos Mono"/>
                <a:cs typeface="Aptos Mono"/>
              </a:defRPr>
            </a:pPr>
            <a:r>
              <a:rPr sz="675" b="0">
                <a:solidFill>
                  <a:srgbClr val="9FB0B4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25864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2026-05-04T10:14:20.3550000Z</dcterms:created>
  <dcterms:modified xsi:type="dcterms:W3CDTF">2026-05-04T10:14:20.3550000Z</dcterms:modified>
</coreProperties>
</file>